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D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4953000" cy="6858000"/>
          </a:xfrm>
          <a:prstGeom prst="rect">
            <a:avLst/>
          </a:prstGeom>
          <a:solidFill>
            <a:srgbClr val="0D2138"/>
          </a:solidFill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953000" y="0"/>
            <a:ext cx="7239000" cy="6858000"/>
          </a:xfrm>
          <a:prstGeom prst="rect">
            <a:avLst/>
          </a:prstGeom>
          <a:solidFill>
            <a:srgbClr val="F6FAFD"/>
          </a:solidFill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43900" y="1181100"/>
            <a:ext cx="1415865" cy="19050"/>
          </a:xfrm>
          <a:prstGeom prst="rect">
            <a:avLst/>
          </a:prstGeom>
          <a:solidFill>
            <a:srgbClr val="D6E2EE"/>
          </a:solidFill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639300" y="1752600"/>
            <a:ext cx="1329275" cy="19050"/>
          </a:xfrm>
          <a:prstGeom prst="rect">
            <a:avLst/>
          </a:prstGeom>
          <a:solidFill>
            <a:srgbClr val="D6E2EE"/>
          </a:solidFill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839450" y="1181100"/>
            <a:ext cx="2646922" cy="19050"/>
          </a:xfrm>
          <a:prstGeom prst="rect">
            <a:avLst/>
          </a:prstGeom>
          <a:solidFill>
            <a:srgbClr val="D6E2EE"/>
          </a:solidFill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839200" y="2914650"/>
            <a:ext cx="1599293" cy="19050"/>
          </a:xfrm>
          <a:prstGeom prst="rect">
            <a:avLst/>
          </a:prstGeom>
          <a:solidFill>
            <a:srgbClr val="D6E2EE"/>
          </a:solidFill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401300" y="3257550"/>
            <a:ext cx="1506035" cy="19050"/>
          </a:xfrm>
          <a:prstGeom prst="rect">
            <a:avLst/>
          </a:prstGeom>
          <a:solidFill>
            <a:srgbClr val="D6E2EE"/>
          </a:solidFill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1258550" y="4495800"/>
            <a:ext cx="2900108" cy="19050"/>
          </a:xfrm>
          <a:prstGeom prst="rect">
            <a:avLst/>
          </a:prstGeom>
          <a:solidFill>
            <a:srgbClr val="D6E2EE"/>
          </a:solidFill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401050" y="4991100"/>
            <a:ext cx="1580576" cy="19050"/>
          </a:xfrm>
          <a:prstGeom prst="rect">
            <a:avLst/>
          </a:prstGeom>
          <a:solidFill>
            <a:srgbClr val="D6E2EE"/>
          </a:solidFill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8343900" y="1181100"/>
            <a:ext cx="133350" cy="133350"/>
          </a:xfrm>
          <a:prstGeom prst="ellipse">
            <a:avLst/>
          </a:prstGeom>
          <a:solidFill>
            <a:srgbClr val="246BFE"/>
          </a:solidFill>
          <a:ln w="9525">
            <a:solidFill>
              <a:srgbClr val="246BFE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9639300" y="1752600"/>
            <a:ext cx="95250" cy="95250"/>
          </a:xfrm>
          <a:prstGeom prst="ellipse">
            <a:avLst/>
          </a:prstGeom>
          <a:solidFill>
            <a:srgbClr val="20B486"/>
          </a:solidFill>
          <a:ln w="9525">
            <a:solidFill>
              <a:srgbClr val="20B486"/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10839450" y="1181100"/>
            <a:ext cx="76200" cy="76200"/>
          </a:xfrm>
          <a:prstGeom prst="ellipse">
            <a:avLst/>
          </a:prstGeom>
          <a:solidFill>
            <a:srgbClr val="F5A524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839200" y="2914650"/>
            <a:ext cx="114300" cy="114300"/>
          </a:xfrm>
          <a:prstGeom prst="ellipse">
            <a:avLst/>
          </a:prstGeom>
          <a:solidFill>
            <a:srgbClr val="10B8D8"/>
          </a:solidFill>
          <a:ln w="9525">
            <a:solidFill>
              <a:srgbClr val="10B8D8"/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10401300" y="3257550"/>
            <a:ext cx="152400" cy="152400"/>
          </a:xfrm>
          <a:prstGeom prst="ellipse">
            <a:avLst/>
          </a:prstGeom>
          <a:solidFill>
            <a:srgbClr val="6E56CF"/>
          </a:solidFill>
          <a:ln w="9525">
            <a:solidFill>
              <a:srgbClr val="6E56CF"/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1258550" y="4495800"/>
            <a:ext cx="95250" cy="95250"/>
          </a:xfrm>
          <a:prstGeom prst="ellipse">
            <a:avLst/>
          </a:prstGeom>
          <a:solidFill>
            <a:srgbClr val="EF4D5A"/>
          </a:solidFill>
          <a:ln w="9525">
            <a:solidFill>
              <a:srgbClr val="EF4D5A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8401050" y="4991100"/>
            <a:ext cx="85725" cy="85725"/>
          </a:xfrm>
          <a:prstGeom prst="ellipse">
            <a:avLst/>
          </a:prstGeom>
          <a:solidFill>
            <a:srgbClr val="20B486"/>
          </a:solidFill>
          <a:ln w="9525">
            <a:solidFill>
              <a:srgbClr val="20B486"/>
            </a:solidFill>
            <a:prstDash val="solid"/>
          </a:ln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9925050" y="5410200"/>
            <a:ext cx="114300" cy="114300"/>
          </a:xfrm>
          <a:prstGeom prst="ellipse">
            <a:avLst/>
          </a:prstGeom>
          <a:solidFill>
            <a:srgbClr val="246BFE"/>
          </a:solidFill>
          <a:ln w="9525">
            <a:solidFill>
              <a:srgbClr val="246BFE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28650" y="552450"/>
            <a:ext cx="24765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点之出众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28650" y="1657350"/>
            <a:ext cx="4362450" cy="1409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餐饮代运营</a:t>
            </a:r>
          </a:p>
          <a:p>
            <a:pPr>
              <a:defRPr sz="40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AI 智能助手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66750" y="3257550"/>
            <a:ext cx="356235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C8D8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线上餐饮代运营赛道的 AI 基础设施，让 10 人团队管好 100 家门店。</a:t>
            </a: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66750" y="4457700"/>
            <a:ext cx="1409700" cy="342900"/>
          </a:xfrm>
          <a:prstGeom prst="roundRect">
            <a:avLst>
              <a:gd name="adj" fmla="val 50000"/>
            </a:avLst>
          </a:prstGeom>
          <a:solidFill>
            <a:srgbClr val="20B486">
              <a:alpha val="16000"/>
            </a:srgbClr>
          </a:solidFill>
          <a:ln w="9525">
            <a:solidFill>
              <a:srgbClr val="C8F7E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19150" y="4533900"/>
            <a:ext cx="11049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C8F7E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飞书统一入口</a:t>
            </a: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2209800" y="4457700"/>
            <a:ext cx="1562100" cy="342900"/>
          </a:xfrm>
          <a:prstGeom prst="roundRect">
            <a:avLst>
              <a:gd name="adj" fmla="val 50000"/>
            </a:avLst>
          </a:prstGeom>
          <a:solidFill>
            <a:srgbClr val="246BFE">
              <a:alpha val="16000"/>
            </a:srgbClr>
          </a:solidFill>
          <a:ln w="9525">
            <a:solidFill>
              <a:srgbClr val="BFD7F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2362200" y="4533900"/>
            <a:ext cx="12573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BFD7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7 个业务 Agent</a:t>
            </a: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666750" y="4953000"/>
            <a:ext cx="1809750" cy="342900"/>
          </a:xfrm>
          <a:prstGeom prst="roundRect">
            <a:avLst>
              <a:gd name="adj" fmla="val 50000"/>
            </a:avLst>
          </a:prstGeom>
          <a:solidFill>
            <a:srgbClr val="F5A524">
              <a:alpha val="18000"/>
            </a:srgbClr>
          </a:solidFill>
          <a:ln w="9525">
            <a:solidFill>
              <a:srgbClr val="FFE0AC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19150" y="5029200"/>
            <a:ext cx="15049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FFE0A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数据到行动闭环</a:t>
            </a: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5905500" y="1200150"/>
            <a:ext cx="20383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DE7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30" name="矩形 29"/>
          <p:cNvSpPr>
            <a:spLocks noGrp="1"/>
          </p:cNvSpPr>
          <p:nvPr/>
        </p:nvSpPr>
        <p:spPr>
          <a:xfrm>
            <a:off x="6115050" y="1428750"/>
            <a:ext cx="16192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246BFE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80%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115050" y="1895475"/>
            <a:ext cx="16192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重复工作由 AI 接管</a:t>
            </a: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8172450" y="1200150"/>
            <a:ext cx="20383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DE7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33" name="矩形 32"/>
          <p:cNvSpPr>
            <a:spLocks noGrp="1"/>
          </p:cNvSpPr>
          <p:nvPr/>
        </p:nvSpPr>
        <p:spPr>
          <a:xfrm>
            <a:off x="8382000" y="1428750"/>
            <a:ext cx="16192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20B486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100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382000" y="1895475"/>
            <a:ext cx="16192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目标管理门店规模</a:t>
            </a: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5905500" y="2590800"/>
            <a:ext cx="20383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DE7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36" name="矩形 35"/>
          <p:cNvSpPr>
            <a:spLocks noGrp="1"/>
          </p:cNvSpPr>
          <p:nvPr/>
        </p:nvSpPr>
        <p:spPr>
          <a:xfrm>
            <a:off x="6115050" y="2819400"/>
            <a:ext cx="16192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F5A524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5-10x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115050" y="3286125"/>
            <a:ext cx="16192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目标人效提升</a:t>
            </a: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8286750" y="3009900"/>
            <a:ext cx="272415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DE7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1">
            <a:srgbClr val="FFFFFF"/>
          </a:effectRef>
          <a:fontRef idx="major"/>
        </p:style>
      </p:sp>
      <p:sp>
        <p:nvSpPr>
          <p:cNvPr id="39" name="矩形 38"/>
          <p:cNvSpPr>
            <a:spLocks noGrp="1"/>
          </p:cNvSpPr>
          <p:nvPr/>
        </p:nvSpPr>
        <p:spPr>
          <a:xfrm>
            <a:off x="8572500" y="3276600"/>
            <a:ext cx="1333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246B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核心主张</a:t>
            </a: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572500" y="3638550"/>
            <a:ext cx="21336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不是通用 AI 助手，不是单纯 RPA。点之出众是懂餐饮运营、能分析、能预警、能执行、能沉淀经验的 AI 工作台。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66750" y="6191250"/>
            <a:ext cx="16192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9DB0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产品展示版</a:t>
            </a: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1239500" y="6191250"/>
            <a:ext cx="4381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275" b="1">
                <a:solidFill>
                  <a:srgbClr val="9DB0C4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D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46BFE"/>
          </a:solidFill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906000" y="0"/>
            <a:ext cx="2286000" cy="95250"/>
          </a:xfrm>
          <a:prstGeom prst="rect">
            <a:avLst/>
          </a:prstGeom>
          <a:solidFill>
            <a:srgbClr val="20B486"/>
          </a:solidFill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400050"/>
            <a:ext cx="4953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246B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赛道定位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66750"/>
            <a:ext cx="7429500" cy="590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我们所在的位置：外卖代运营从“人力服务”升级为“AI 基础设施”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23900" y="1638300"/>
            <a:ext cx="1074420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7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2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1066800" y="1885950"/>
            <a:ext cx="1714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餐饮 SaaS 市场</a:t>
            </a: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1200150" y="2514600"/>
            <a:ext cx="2019300" cy="1409700"/>
          </a:xfrm>
          <a:prstGeom prst="roundRect">
            <a:avLst>
              <a:gd name="adj" fmla="val 10811"/>
            </a:avLst>
          </a:prstGeom>
          <a:solidFill>
            <a:srgbClr val="ECF4FF"/>
          </a:solidFill>
          <a:ln w="9525">
            <a:solidFill>
              <a:srgbClr val="246BF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428750" y="2781300"/>
            <a:ext cx="15621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246B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/>
              <a:t>  </a:t>
            </a:r>
            <a:r>
              <a:t>收银系统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428750" y="3238500"/>
            <a:ext cx="15621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客如云 / 美味不用等</a:t>
            </a: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3638550" y="2514600"/>
            <a:ext cx="2019300" cy="1409700"/>
          </a:xfrm>
          <a:prstGeom prst="roundRect">
            <a:avLst>
              <a:gd name="adj" fmla="val 10811"/>
            </a:avLst>
          </a:prstGeom>
          <a:solidFill>
            <a:srgbClr val="EDF9F5"/>
          </a:solidFill>
          <a:ln w="9525">
            <a:solidFill>
              <a:srgbClr val="20B48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867150" y="2781300"/>
            <a:ext cx="15621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20B4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/>
              <a:t>  </a:t>
            </a:r>
            <a:r>
              <a:t>供应链系统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867150" y="3238500"/>
            <a:ext cx="15621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/>
              <a:t>     </a:t>
            </a:r>
            <a:r>
              <a:t>美菜 / 快驴</a:t>
            </a: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076950" y="2514600"/>
            <a:ext cx="3390900" cy="1409700"/>
          </a:xfrm>
          <a:prstGeom prst="roundRect">
            <a:avLst>
              <a:gd name="adj" fmla="val 10811"/>
            </a:avLst>
          </a:prstGeom>
          <a:solidFill>
            <a:srgbClr val="FFF6E8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754495" y="2781300"/>
            <a:ext cx="29337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F5A52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/>
              <a:t>    </a:t>
            </a:r>
            <a:r>
              <a:t>外卖代运营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353175" y="3238500"/>
            <a:ext cx="29337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/>
              <a:t>      </a:t>
            </a:r>
            <a:r>
              <a:t>自动化 + 数据化 + 智能化</a:t>
            </a:r>
          </a:p>
        </p:txBody>
      </p:sp>
      <p:sp>
        <p:nvSpPr>
          <p:cNvPr id="18" name="右箭头 17"/>
          <p:cNvSpPr>
            <a:spLocks noGrp="1"/>
          </p:cNvSpPr>
          <p:nvPr/>
        </p:nvSpPr>
        <p:spPr>
          <a:xfrm>
            <a:off x="9467850" y="2838450"/>
            <a:ext cx="800100" cy="400050"/>
          </a:xfrm>
          <a:prstGeom prst="rightArrow">
            <a:avLst/>
          </a:prstGeom>
          <a:solidFill>
            <a:srgbClr val="246BFE"/>
          </a:solidFill>
          <a:ln w="9525">
            <a:solidFill>
              <a:srgbClr val="246BFE"/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10210800" y="2514600"/>
            <a:ext cx="819150" cy="1409700"/>
          </a:xfrm>
          <a:prstGeom prst="roundRect">
            <a:avLst>
              <a:gd name="adj" fmla="val 18605"/>
            </a:avLst>
          </a:prstGeom>
          <a:solidFill>
            <a:srgbClr val="0B1B33"/>
          </a:solidFill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382250" y="2895600"/>
            <a:ext cx="495300" cy="723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我们</a:t>
            </a:r>
          </a:p>
          <a:p>
            <a:pPr algn="ctr">
              <a:defRPr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在这里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200150" y="4286250"/>
            <a:ext cx="83820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核心差异：以餐饮运营知识为决策内核，把数据采集、异常判断、行动建议和后台执行连成闭环。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14350" y="6324600"/>
            <a:ext cx="4095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A8A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点之出众 · 餐饮代运营 AI 智能助手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14350" y="6153150"/>
            <a:ext cx="11163300" cy="9525"/>
          </a:xfrm>
          <a:prstGeom prst="rect">
            <a:avLst/>
          </a:prstGeom>
          <a:solidFill>
            <a:srgbClr val="E2EAF2"/>
          </a:solidFill>
          <a:ln w="9525">
            <a:solidFill>
              <a:srgbClr val="E2EAF2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1239500" y="6305550"/>
            <a:ext cx="4381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275" b="1">
                <a:solidFill>
                  <a:srgbClr val="246BFE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D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46BFE"/>
          </a:solidFill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906000" y="0"/>
            <a:ext cx="2286000" cy="95250"/>
          </a:xfrm>
          <a:prstGeom prst="rect">
            <a:avLst/>
          </a:prstGeom>
          <a:solidFill>
            <a:srgbClr val="20B486"/>
          </a:solidFill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400050"/>
            <a:ext cx="4953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246B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核心转变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66750"/>
            <a:ext cx="7429500" cy="590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从手工代运营到 AI 代运营：运营角色发生变化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" y="1619250"/>
            <a:ext cx="4838700" cy="3676650"/>
          </a:xfrm>
          <a:prstGeom prst="roundRect">
            <a:avLst>
              <a:gd name="adj" fmla="val 4663"/>
            </a:avLst>
          </a:prstGeom>
          <a:solidFill>
            <a:srgbClr val="FFF5F5"/>
          </a:solidFill>
          <a:ln w="9525">
            <a:solidFill>
              <a:srgbClr val="FFD6D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66800" y="1943100"/>
            <a:ext cx="2381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EF4D5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传统餐饮代运营</a:t>
            </a: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1104900" y="2581275"/>
            <a:ext cx="114300" cy="114300"/>
          </a:xfrm>
          <a:prstGeom prst="ellipse">
            <a:avLst/>
          </a:prstGeom>
          <a:solidFill>
            <a:srgbClr val="EF4D5A"/>
          </a:solidFill>
          <a:ln w="9525">
            <a:solidFill>
              <a:srgbClr val="EF4D5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371600" y="2533650"/>
            <a:ext cx="2476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登录 100 个后台</a:t>
            </a:r>
          </a:p>
        </p:txBody>
      </p:sp>
      <p:sp>
        <p:nvSpPr>
          <p:cNvPr id="11" name="右箭头 10"/>
          <p:cNvSpPr>
            <a:spLocks noGrp="1"/>
          </p:cNvSpPr>
          <p:nvPr/>
        </p:nvSpPr>
        <p:spPr>
          <a:xfrm>
            <a:off x="3867150" y="2495550"/>
            <a:ext cx="457200" cy="266700"/>
          </a:xfrm>
          <a:prstGeom prst="rightArrow">
            <a:avLst/>
          </a:prstGeom>
          <a:solidFill>
            <a:srgbClr val="F6B1B7"/>
          </a:solidFill>
          <a:ln w="9525">
            <a:solidFill>
              <a:srgbClr val="F6B1B7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1104900" y="3133725"/>
            <a:ext cx="114300" cy="114300"/>
          </a:xfrm>
          <a:prstGeom prst="ellipse">
            <a:avLst/>
          </a:prstGeom>
          <a:solidFill>
            <a:srgbClr val="EF4D5A"/>
          </a:solidFill>
          <a:ln w="9525">
            <a:solidFill>
              <a:srgbClr val="EF4D5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371600" y="3086100"/>
            <a:ext cx="2476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手动导数据</a:t>
            </a:r>
          </a:p>
        </p:txBody>
      </p:sp>
      <p:sp>
        <p:nvSpPr>
          <p:cNvPr id="14" name="右箭头 13"/>
          <p:cNvSpPr>
            <a:spLocks noGrp="1"/>
          </p:cNvSpPr>
          <p:nvPr/>
        </p:nvSpPr>
        <p:spPr>
          <a:xfrm>
            <a:off x="3867150" y="3048000"/>
            <a:ext cx="457200" cy="266700"/>
          </a:xfrm>
          <a:prstGeom prst="rightArrow">
            <a:avLst/>
          </a:prstGeom>
          <a:solidFill>
            <a:srgbClr val="F6B1B7"/>
          </a:solidFill>
          <a:ln w="9525">
            <a:solidFill>
              <a:srgbClr val="F6B1B7"/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104900" y="3686175"/>
            <a:ext cx="114300" cy="114300"/>
          </a:xfrm>
          <a:prstGeom prst="ellipse">
            <a:avLst/>
          </a:prstGeom>
          <a:solidFill>
            <a:srgbClr val="EF4D5A"/>
          </a:solidFill>
          <a:ln w="9525">
            <a:solidFill>
              <a:srgbClr val="EF4D5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371600" y="3638550"/>
            <a:ext cx="2476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手动做报表</a:t>
            </a:r>
          </a:p>
        </p:txBody>
      </p:sp>
      <p:sp>
        <p:nvSpPr>
          <p:cNvPr id="17" name="右箭头 16"/>
          <p:cNvSpPr>
            <a:spLocks noGrp="1"/>
          </p:cNvSpPr>
          <p:nvPr/>
        </p:nvSpPr>
        <p:spPr>
          <a:xfrm>
            <a:off x="3867150" y="3600450"/>
            <a:ext cx="457200" cy="266700"/>
          </a:xfrm>
          <a:prstGeom prst="rightArrow">
            <a:avLst/>
          </a:prstGeom>
          <a:solidFill>
            <a:srgbClr val="F6B1B7"/>
          </a:solidFill>
          <a:ln w="9525">
            <a:solidFill>
              <a:srgbClr val="F6B1B7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1104900" y="4238625"/>
            <a:ext cx="114300" cy="114300"/>
          </a:xfrm>
          <a:prstGeom prst="ellipse">
            <a:avLst/>
          </a:prstGeom>
          <a:solidFill>
            <a:srgbClr val="EF4D5A"/>
          </a:solidFill>
          <a:ln w="9525">
            <a:solidFill>
              <a:srgbClr val="EF4D5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371600" y="4191000"/>
            <a:ext cx="2476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手动回复差评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66800" y="4705350"/>
            <a:ext cx="3619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EF4D5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结果：人力成本高、效率低、容易出错、经验难沉淀</a:t>
            </a:r>
          </a:p>
        </p:txBody>
      </p:sp>
      <p:sp>
        <p:nvSpPr>
          <p:cNvPr id="21" name="右箭头 20"/>
          <p:cNvSpPr>
            <a:spLocks noGrp="1"/>
          </p:cNvSpPr>
          <p:nvPr/>
        </p:nvSpPr>
        <p:spPr>
          <a:xfrm>
            <a:off x="5695950" y="3143250"/>
            <a:ext cx="800100" cy="419100"/>
          </a:xfrm>
          <a:prstGeom prst="rightArrow">
            <a:avLst/>
          </a:prstGeom>
          <a:solidFill>
            <a:srgbClr val="246BFE"/>
          </a:solidFill>
          <a:ln w="9525">
            <a:solidFill>
              <a:srgbClr val="246BFE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6705600" y="1619250"/>
            <a:ext cx="4838700" cy="3676650"/>
          </a:xfrm>
          <a:prstGeom prst="roundRect">
            <a:avLst>
              <a:gd name="adj" fmla="val 4663"/>
            </a:avLst>
          </a:prstGeom>
          <a:solidFill>
            <a:srgbClr val="F0FBF7"/>
          </a:solidFill>
          <a:ln w="9525">
            <a:solidFill>
              <a:srgbClr val="BFEFDE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086600" y="1943100"/>
            <a:ext cx="285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20B4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点之出众 AI 代运营</a:t>
            </a: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7124700" y="2581275"/>
            <a:ext cx="114300" cy="114300"/>
          </a:xfrm>
          <a:prstGeom prst="ellipse">
            <a:avLst/>
          </a:prstGeom>
          <a:solidFill>
            <a:srgbClr val="20B486"/>
          </a:solidFill>
          <a:ln w="9525">
            <a:solidFill>
              <a:srgbClr val="20B48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391400" y="2533650"/>
            <a:ext cx="2476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自动采集数据</a:t>
            </a:r>
          </a:p>
        </p:txBody>
      </p:sp>
      <p:sp>
        <p:nvSpPr>
          <p:cNvPr id="26" name="右箭头 25"/>
          <p:cNvSpPr>
            <a:spLocks noGrp="1"/>
          </p:cNvSpPr>
          <p:nvPr/>
        </p:nvSpPr>
        <p:spPr>
          <a:xfrm>
            <a:off x="9886950" y="2495550"/>
            <a:ext cx="457200" cy="266700"/>
          </a:xfrm>
          <a:prstGeom prst="rightArrow">
            <a:avLst/>
          </a:prstGeom>
          <a:solidFill>
            <a:srgbClr val="9AE6CB"/>
          </a:solidFill>
          <a:ln w="9525">
            <a:solidFill>
              <a:srgbClr val="9AE6CB"/>
            </a:solidFill>
            <a:prstDash val="solid"/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7124700" y="3133725"/>
            <a:ext cx="114300" cy="114300"/>
          </a:xfrm>
          <a:prstGeom prst="ellipse">
            <a:avLst/>
          </a:prstGeom>
          <a:solidFill>
            <a:srgbClr val="20B486"/>
          </a:solidFill>
          <a:ln w="9525">
            <a:solidFill>
              <a:srgbClr val="20B486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391400" y="3086100"/>
            <a:ext cx="2476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自动生成报表</a:t>
            </a:r>
          </a:p>
        </p:txBody>
      </p:sp>
      <p:sp>
        <p:nvSpPr>
          <p:cNvPr id="29" name="右箭头 28"/>
          <p:cNvSpPr>
            <a:spLocks noGrp="1"/>
          </p:cNvSpPr>
          <p:nvPr/>
        </p:nvSpPr>
        <p:spPr>
          <a:xfrm>
            <a:off x="9886950" y="3048000"/>
            <a:ext cx="457200" cy="266700"/>
          </a:xfrm>
          <a:prstGeom prst="rightArrow">
            <a:avLst/>
          </a:prstGeom>
          <a:solidFill>
            <a:srgbClr val="9AE6CB"/>
          </a:solidFill>
          <a:ln w="9525">
            <a:solidFill>
              <a:srgbClr val="9AE6CB"/>
            </a:solidFill>
            <a:prstDash val="solid"/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7124700" y="3686175"/>
            <a:ext cx="114300" cy="114300"/>
          </a:xfrm>
          <a:prstGeom prst="ellipse">
            <a:avLst/>
          </a:prstGeom>
          <a:solidFill>
            <a:srgbClr val="20B486"/>
          </a:solidFill>
          <a:ln w="9525">
            <a:solidFill>
              <a:srgbClr val="20B486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391400" y="3638550"/>
            <a:ext cx="2476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自动预警异常</a:t>
            </a:r>
          </a:p>
        </p:txBody>
      </p:sp>
      <p:sp>
        <p:nvSpPr>
          <p:cNvPr id="32" name="右箭头 31"/>
          <p:cNvSpPr>
            <a:spLocks noGrp="1"/>
          </p:cNvSpPr>
          <p:nvPr/>
        </p:nvSpPr>
        <p:spPr>
          <a:xfrm>
            <a:off x="9886950" y="3600450"/>
            <a:ext cx="457200" cy="266700"/>
          </a:xfrm>
          <a:prstGeom prst="rightArrow">
            <a:avLst/>
          </a:prstGeom>
          <a:solidFill>
            <a:srgbClr val="9AE6CB"/>
          </a:solidFill>
          <a:ln w="9525">
            <a:solidFill>
              <a:srgbClr val="9AE6CB"/>
            </a:solidFill>
            <a:prstDash val="solid"/>
          </a:ln>
        </p:spPr>
      </p:sp>
      <p:sp>
        <p:nvSpPr>
          <p:cNvPr id="33" name="椭圆 32"/>
          <p:cNvSpPr>
            <a:spLocks noGrp="1"/>
          </p:cNvSpPr>
          <p:nvPr/>
        </p:nvSpPr>
        <p:spPr>
          <a:xfrm>
            <a:off x="7124700" y="4238625"/>
            <a:ext cx="114300" cy="114300"/>
          </a:xfrm>
          <a:prstGeom prst="ellipse">
            <a:avLst/>
          </a:prstGeom>
          <a:solidFill>
            <a:srgbClr val="20B486"/>
          </a:solidFill>
          <a:ln w="9525">
            <a:solidFill>
              <a:srgbClr val="20B486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391400" y="4191000"/>
            <a:ext cx="2476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辅助决策执行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086600" y="4705350"/>
            <a:ext cx="3733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20B4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结果：运营人员从“数据搬运工”变成“策略决策者”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14350" y="6324600"/>
            <a:ext cx="4095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A8A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点之出众 · 餐饮代运营 AI 智能助手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14350" y="6153150"/>
            <a:ext cx="11163300" cy="9525"/>
          </a:xfrm>
          <a:prstGeom prst="rect">
            <a:avLst/>
          </a:prstGeom>
          <a:solidFill>
            <a:srgbClr val="E2EAF2"/>
          </a:solidFill>
          <a:ln w="9525">
            <a:solidFill>
              <a:srgbClr val="E2EAF2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1239500" y="6305550"/>
            <a:ext cx="4381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275" b="1">
                <a:solidFill>
                  <a:srgbClr val="246BFE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D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46BFE"/>
          </a:solidFill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906000" y="0"/>
            <a:ext cx="2286000" cy="95250"/>
          </a:xfrm>
          <a:prstGeom prst="rect">
            <a:avLst/>
          </a:prstGeom>
          <a:solidFill>
            <a:srgbClr val="20B486"/>
          </a:solidFill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400050"/>
            <a:ext cx="4953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246B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产品全景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66750"/>
            <a:ext cx="7429500" cy="590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产品系统全景：飞书入口连接 Agent、数据与运营知识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19150" y="1619250"/>
            <a:ext cx="10553700" cy="876300"/>
          </a:xfrm>
          <a:prstGeom prst="roundRect">
            <a:avLst>
              <a:gd name="adj" fmla="val 17391"/>
            </a:avLst>
          </a:prstGeom>
          <a:solidFill>
            <a:srgbClr val="EEF5FF"/>
          </a:solidFill>
          <a:ln w="9525">
            <a:solidFill>
              <a:srgbClr val="BFD7F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23950" y="1924050"/>
            <a:ext cx="1657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246B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飞书统一入口</a:t>
            </a: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3200400" y="1885950"/>
            <a:ext cx="1104900" cy="342900"/>
          </a:xfrm>
          <a:prstGeom prst="roundRect">
            <a:avLst>
              <a:gd name="adj" fmla="val 50000"/>
            </a:avLst>
          </a:prstGeom>
          <a:solidFill>
            <a:srgbClr val="EEF5FF"/>
          </a:solidFill>
          <a:ln w="9525">
            <a:solidFill>
              <a:srgbClr val="246BF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352800" y="1962150"/>
            <a:ext cx="8001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246B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私聊问数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438650" y="1885950"/>
            <a:ext cx="1104900" cy="342900"/>
          </a:xfrm>
          <a:prstGeom prst="roundRect">
            <a:avLst>
              <a:gd name="adj" fmla="val 50000"/>
            </a:avLst>
          </a:prstGeom>
          <a:solidFill>
            <a:srgbClr val="EEF5FF"/>
          </a:solidFill>
          <a:ln w="9525">
            <a:solidFill>
              <a:srgbClr val="246BFE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591050" y="1962150"/>
            <a:ext cx="8001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246B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群聊预警</a:t>
            </a: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5676900" y="1885950"/>
            <a:ext cx="1238250" cy="342900"/>
          </a:xfrm>
          <a:prstGeom prst="roundRect">
            <a:avLst>
              <a:gd name="adj" fmla="val 50000"/>
            </a:avLst>
          </a:prstGeom>
          <a:solidFill>
            <a:srgbClr val="EEF5FF"/>
          </a:solidFill>
          <a:ln w="9525">
            <a:solidFill>
              <a:srgbClr val="246BFE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829300" y="1962150"/>
            <a:ext cx="9334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246B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消息卡片</a:t>
            </a: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048500" y="1885950"/>
            <a:ext cx="1238250" cy="342900"/>
          </a:xfrm>
          <a:prstGeom prst="roundRect">
            <a:avLst>
              <a:gd name="adj" fmla="val 50000"/>
            </a:avLst>
          </a:prstGeom>
          <a:solidFill>
            <a:srgbClr val="EEF5FF"/>
          </a:solidFill>
          <a:ln w="9525">
            <a:solidFill>
              <a:srgbClr val="246BFE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200900" y="1962150"/>
            <a:ext cx="9334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246B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操作确认</a:t>
            </a:r>
          </a:p>
        </p:txBody>
      </p:sp>
      <p:sp>
        <p:nvSpPr>
          <p:cNvPr id="17" name="下箭头 16"/>
          <p:cNvSpPr>
            <a:spLocks noGrp="1"/>
          </p:cNvSpPr>
          <p:nvPr/>
        </p:nvSpPr>
        <p:spPr>
          <a:xfrm>
            <a:off x="5848350" y="2686050"/>
            <a:ext cx="495300" cy="323850"/>
          </a:xfrm>
          <a:prstGeom prst="downArrow">
            <a:avLst/>
          </a:prstGeom>
          <a:solidFill>
            <a:srgbClr val="246BFE"/>
          </a:solidFill>
          <a:ln w="9525">
            <a:solidFill>
              <a:srgbClr val="246BFE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819150" y="3219450"/>
            <a:ext cx="10553700" cy="1219200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9525">
            <a:solidFill>
              <a:srgbClr val="DDE7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3">
            <a:srgbClr val="FFFFFF"/>
          </a:effectRef>
          <a:fontRef idx="major"/>
        </p:style>
      </p:sp>
      <p:sp>
        <p:nvSpPr>
          <p:cNvPr id="19" name="矩形 18"/>
          <p:cNvSpPr>
            <a:spLocks noGrp="1"/>
          </p:cNvSpPr>
          <p:nvPr/>
        </p:nvSpPr>
        <p:spPr>
          <a:xfrm>
            <a:off x="1123950" y="3657600"/>
            <a:ext cx="15049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7 大 AI Agent</a:t>
            </a: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2914650" y="3581400"/>
            <a:ext cx="171450" cy="171450"/>
          </a:xfrm>
          <a:prstGeom prst="ellipse">
            <a:avLst/>
          </a:prstGeom>
          <a:solidFill>
            <a:srgbClr val="246BFE"/>
          </a:solidFill>
          <a:ln w="9525">
            <a:solidFill>
              <a:srgbClr val="246BFE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2724150" y="3867150"/>
            <a:ext cx="5905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3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日报</a:t>
            </a: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3962400" y="3581400"/>
            <a:ext cx="171450" cy="171450"/>
          </a:xfrm>
          <a:prstGeom prst="ellipse">
            <a:avLst/>
          </a:prstGeom>
          <a:solidFill>
            <a:srgbClr val="EF4D5A"/>
          </a:solidFill>
          <a:ln w="9525">
            <a:solidFill>
              <a:srgbClr val="EF4D5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3771900" y="3867150"/>
            <a:ext cx="5905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3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预警</a:t>
            </a: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5010150" y="3581400"/>
            <a:ext cx="171450" cy="171450"/>
          </a:xfrm>
          <a:prstGeom prst="ellipse">
            <a:avLst/>
          </a:prstGeom>
          <a:solidFill>
            <a:srgbClr val="10B8D8"/>
          </a:solidFill>
          <a:ln w="9525">
            <a:solidFill>
              <a:srgbClr val="10B8D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819650" y="3867150"/>
            <a:ext cx="5905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3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问数</a:t>
            </a: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6057900" y="3581400"/>
            <a:ext cx="171450" cy="171450"/>
          </a:xfrm>
          <a:prstGeom prst="ellipse">
            <a:avLst/>
          </a:prstGeom>
          <a:solidFill>
            <a:srgbClr val="20B486"/>
          </a:solidFill>
          <a:ln w="9525">
            <a:solidFill>
              <a:srgbClr val="20B48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867400" y="3867150"/>
            <a:ext cx="5905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3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执行</a:t>
            </a: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7105650" y="3581400"/>
            <a:ext cx="171450" cy="171450"/>
          </a:xfrm>
          <a:prstGeom prst="ellipse">
            <a:avLst/>
          </a:prstGeom>
          <a:solidFill>
            <a:srgbClr val="F5A524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915150" y="3867150"/>
            <a:ext cx="5905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3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增长</a:t>
            </a: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8153400" y="3581400"/>
            <a:ext cx="171450" cy="171450"/>
          </a:xfrm>
          <a:prstGeom prst="ellipse">
            <a:avLst/>
          </a:prstGeom>
          <a:solidFill>
            <a:srgbClr val="6E56CF"/>
          </a:solidFill>
          <a:ln w="9525">
            <a:solidFill>
              <a:srgbClr val="6E56C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962900" y="3867150"/>
            <a:ext cx="5905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3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知识库</a:t>
            </a: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9391650" y="3581400"/>
            <a:ext cx="171450" cy="171450"/>
          </a:xfrm>
          <a:prstGeom prst="ellipse">
            <a:avLst/>
          </a:prstGeom>
          <a:solidFill>
            <a:srgbClr val="20B486"/>
          </a:solidFill>
          <a:ln w="9525">
            <a:solidFill>
              <a:srgbClr val="20B486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201150" y="3867150"/>
            <a:ext cx="5905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3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菜单</a:t>
            </a:r>
          </a:p>
        </p:txBody>
      </p:sp>
      <p:sp>
        <p:nvSpPr>
          <p:cNvPr id="34" name="下箭头 33"/>
          <p:cNvSpPr>
            <a:spLocks noGrp="1"/>
          </p:cNvSpPr>
          <p:nvPr/>
        </p:nvSpPr>
        <p:spPr>
          <a:xfrm>
            <a:off x="5848350" y="4648200"/>
            <a:ext cx="495300" cy="323850"/>
          </a:xfrm>
          <a:prstGeom prst="downArrow">
            <a:avLst/>
          </a:prstGeom>
          <a:solidFill>
            <a:srgbClr val="20B486"/>
          </a:solidFill>
          <a:ln w="9525">
            <a:solidFill>
              <a:srgbClr val="20B486"/>
            </a:solidFill>
            <a:prstDash val="solid"/>
          </a:ln>
        </p:spPr>
      </p:sp>
      <p:sp>
        <p:nvSpPr>
          <p:cNvPr id="35" name="圆角矩形 34"/>
          <p:cNvSpPr>
            <a:spLocks noGrp="1"/>
          </p:cNvSpPr>
          <p:nvPr/>
        </p:nvSpPr>
        <p:spPr>
          <a:xfrm>
            <a:off x="819150" y="5124450"/>
            <a:ext cx="10553700" cy="819150"/>
          </a:xfrm>
          <a:prstGeom prst="roundRect">
            <a:avLst>
              <a:gd name="adj" fmla="val 18605"/>
            </a:avLst>
          </a:prstGeom>
          <a:solidFill>
            <a:srgbClr val="F0FBF7"/>
          </a:solidFill>
          <a:ln w="9525">
            <a:solidFill>
              <a:srgbClr val="C8EFE2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123950" y="5410200"/>
            <a:ext cx="1790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20B4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数据与知识底座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238500" y="5438775"/>
            <a:ext cx="7239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RPA 数据 · 外卖平台后台 · 飞书多维表格 · 飞书知识库 · DeepBot 本地记忆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14350" y="6324600"/>
            <a:ext cx="4095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A8A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点之出众 · 餐饮代运营 AI 智能助手</a:t>
            </a: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14350" y="6153150"/>
            <a:ext cx="11163300" cy="9525"/>
          </a:xfrm>
          <a:prstGeom prst="rect">
            <a:avLst/>
          </a:prstGeom>
          <a:solidFill>
            <a:srgbClr val="E2EAF2"/>
          </a:solidFill>
          <a:ln w="9525">
            <a:solidFill>
              <a:srgbClr val="E2EAF2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1239500" y="6305550"/>
            <a:ext cx="4381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275" b="1">
                <a:solidFill>
                  <a:srgbClr val="246BFE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D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46BFE"/>
          </a:solidFill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906000" y="0"/>
            <a:ext cx="2286000" cy="95250"/>
          </a:xfrm>
          <a:prstGeom prst="rect">
            <a:avLst/>
          </a:prstGeom>
          <a:solidFill>
            <a:srgbClr val="20B486"/>
          </a:solidFill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400050"/>
            <a:ext cx="4953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246B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Agent 能力地图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66750"/>
            <a:ext cx="7429500" cy="590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7 个 Agent 不是功能清单，而是一套运营工作分工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66750" y="1581150"/>
            <a:ext cx="23812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BE6F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4">
            <a:srgbClr val="FFFFFF"/>
          </a:effectRef>
          <a:fontRef idx="major"/>
        </p:style>
      </p:sp>
      <p:sp>
        <p:nvSpPr>
          <p:cNvPr id="8" name="椭圆 7"/>
          <p:cNvSpPr>
            <a:spLocks noGrp="1"/>
          </p:cNvSpPr>
          <p:nvPr/>
        </p:nvSpPr>
        <p:spPr>
          <a:xfrm>
            <a:off x="857250" y="1771650"/>
            <a:ext cx="123825" cy="123825"/>
          </a:xfrm>
          <a:prstGeom prst="ellipse">
            <a:avLst/>
          </a:prstGeom>
          <a:solidFill>
            <a:srgbClr val="246BFE"/>
          </a:solidFill>
          <a:ln w="9525">
            <a:solidFill>
              <a:srgbClr val="246BFE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66800" y="1714500"/>
            <a:ext cx="1828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日报 Agent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2076450"/>
            <a:ext cx="20002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每日固定推送门店核心数据，自动形成运营日报。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333750" y="1581150"/>
            <a:ext cx="23812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BE6F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4">
            <a:srgbClr val="FFFFFF"/>
          </a:effectRef>
          <a:fontRef idx="major"/>
        </p:style>
      </p:sp>
      <p:sp>
        <p:nvSpPr>
          <p:cNvPr id="12" name="椭圆 11"/>
          <p:cNvSpPr>
            <a:spLocks noGrp="1"/>
          </p:cNvSpPr>
          <p:nvPr/>
        </p:nvSpPr>
        <p:spPr>
          <a:xfrm>
            <a:off x="3524250" y="1771650"/>
            <a:ext cx="123825" cy="123825"/>
          </a:xfrm>
          <a:prstGeom prst="ellipse">
            <a:avLst/>
          </a:prstGeom>
          <a:solidFill>
            <a:srgbClr val="EF4D5A"/>
          </a:solidFill>
          <a:ln w="9525">
            <a:solidFill>
              <a:srgbClr val="EF4D5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733800" y="1714500"/>
            <a:ext cx="1828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预警 Agent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524250" y="2076450"/>
            <a:ext cx="20002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按规则扫描异常，主动把风险推到对应运营人员。</a:t>
            </a: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000750" y="1581150"/>
            <a:ext cx="23812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BE6F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4">
            <a:srgbClr val="FFFFFF"/>
          </a:effectRef>
          <a:fontRef idx="major"/>
        </p:style>
      </p:sp>
      <p:sp>
        <p:nvSpPr>
          <p:cNvPr id="16" name="椭圆 15"/>
          <p:cNvSpPr>
            <a:spLocks noGrp="1"/>
          </p:cNvSpPr>
          <p:nvPr/>
        </p:nvSpPr>
        <p:spPr>
          <a:xfrm>
            <a:off x="6191250" y="1771650"/>
            <a:ext cx="123825" cy="123825"/>
          </a:xfrm>
          <a:prstGeom prst="ellipse">
            <a:avLst/>
          </a:prstGeom>
          <a:solidFill>
            <a:srgbClr val="10B8D8"/>
          </a:solidFill>
          <a:ln w="9525">
            <a:solidFill>
              <a:srgbClr val="10B8D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400800" y="1714500"/>
            <a:ext cx="1828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问数 Agent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191250" y="2076450"/>
            <a:ext cx="20002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用自然语言查询任意门店、时间段与指标。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667750" y="1581150"/>
            <a:ext cx="23812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BE6F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4">
            <a:srgbClr val="FFFFFF"/>
          </a:effectRef>
          <a:fontRef idx="major"/>
        </p:style>
      </p:sp>
      <p:sp>
        <p:nvSpPr>
          <p:cNvPr id="20" name="椭圆 19"/>
          <p:cNvSpPr>
            <a:spLocks noGrp="1"/>
          </p:cNvSpPr>
          <p:nvPr/>
        </p:nvSpPr>
        <p:spPr>
          <a:xfrm>
            <a:off x="8858250" y="1771650"/>
            <a:ext cx="123825" cy="123825"/>
          </a:xfrm>
          <a:prstGeom prst="ellipse">
            <a:avLst/>
          </a:prstGeom>
          <a:solidFill>
            <a:srgbClr val="20B486"/>
          </a:solidFill>
          <a:ln w="9525">
            <a:solidFill>
              <a:srgbClr val="20B486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067800" y="1714500"/>
            <a:ext cx="1828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执行 Agent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858250" y="2076450"/>
            <a:ext cx="20002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对接外卖后台标准操作，高风险动作先确认。</a:t>
            </a: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2000250" y="3162300"/>
            <a:ext cx="23812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BE6F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4">
            <a:srgbClr val="FFFFFF"/>
          </a:effectRef>
          <a:fontRef idx="major"/>
        </p:style>
      </p:sp>
      <p:sp>
        <p:nvSpPr>
          <p:cNvPr id="24" name="椭圆 23"/>
          <p:cNvSpPr>
            <a:spLocks noGrp="1"/>
          </p:cNvSpPr>
          <p:nvPr/>
        </p:nvSpPr>
        <p:spPr>
          <a:xfrm>
            <a:off x="2190750" y="3352800"/>
            <a:ext cx="123825" cy="123825"/>
          </a:xfrm>
          <a:prstGeom prst="ellipse">
            <a:avLst/>
          </a:prstGeom>
          <a:solidFill>
            <a:srgbClr val="F5A524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400300" y="3295650"/>
            <a:ext cx="1828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增长 Agent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190750" y="3657600"/>
            <a:ext cx="20002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拆解营收波动，定位原因，输出行动清单。</a:t>
            </a: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667250" y="3162300"/>
            <a:ext cx="23812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BE6F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4">
            <a:srgbClr val="FFFFFF"/>
          </a:effectRef>
          <a:fontRef idx="major"/>
        </p:style>
      </p:sp>
      <p:sp>
        <p:nvSpPr>
          <p:cNvPr id="28" name="椭圆 27"/>
          <p:cNvSpPr>
            <a:spLocks noGrp="1"/>
          </p:cNvSpPr>
          <p:nvPr/>
        </p:nvSpPr>
        <p:spPr>
          <a:xfrm>
            <a:off x="4857750" y="3352800"/>
            <a:ext cx="123825" cy="123825"/>
          </a:xfrm>
          <a:prstGeom prst="ellipse">
            <a:avLst/>
          </a:prstGeom>
          <a:solidFill>
            <a:srgbClr val="6E56CF"/>
          </a:solidFill>
          <a:ln w="9525">
            <a:solidFill>
              <a:srgbClr val="6E56C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067300" y="3295650"/>
            <a:ext cx="1828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知识库 Agent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857750" y="3657600"/>
            <a:ext cx="20002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让 SOP、平台规则、话术库变成可问可用的知识。</a:t>
            </a: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7334250" y="3162300"/>
            <a:ext cx="23812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BE6F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4">
            <a:srgbClr val="FFFFFF"/>
          </a:effectRef>
          <a:fontRef idx="major"/>
        </p:style>
      </p:sp>
      <p:sp>
        <p:nvSpPr>
          <p:cNvPr id="32" name="椭圆 31"/>
          <p:cNvSpPr>
            <a:spLocks noGrp="1"/>
          </p:cNvSpPr>
          <p:nvPr/>
        </p:nvSpPr>
        <p:spPr>
          <a:xfrm>
            <a:off x="7524750" y="3352800"/>
            <a:ext cx="123825" cy="123825"/>
          </a:xfrm>
          <a:prstGeom prst="ellipse">
            <a:avLst/>
          </a:prstGeom>
          <a:solidFill>
            <a:srgbClr val="20B486"/>
          </a:solidFill>
          <a:ln w="9525">
            <a:solidFill>
              <a:srgbClr val="20B486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734300" y="3295650"/>
            <a:ext cx="1828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菜单 Agent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524750" y="3657600"/>
            <a:ext cx="20002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分析菜品动销、菜单结构、价格带和爆品机会。</a:t>
            </a: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3047365" y="4762500"/>
            <a:ext cx="6172835" cy="784225"/>
          </a:xfrm>
          <a:prstGeom prst="roundRect">
            <a:avLst>
              <a:gd name="adj" fmla="val 27586"/>
            </a:avLst>
          </a:prstGeom>
          <a:solidFill>
            <a:srgbClr val="0B1B33"/>
          </a:solidFill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3333750" y="4924425"/>
            <a:ext cx="5524500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共同目标：把重复动作自动化，把运营经验数据化，把决策过程标准化。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14350" y="6324600"/>
            <a:ext cx="4095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A8A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点之出众 · 餐饮代运营 AI 智能助手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14350" y="6153150"/>
            <a:ext cx="11163300" cy="9525"/>
          </a:xfrm>
          <a:prstGeom prst="rect">
            <a:avLst/>
          </a:prstGeom>
          <a:solidFill>
            <a:srgbClr val="E2EAF2"/>
          </a:solidFill>
          <a:ln w="9525">
            <a:solidFill>
              <a:srgbClr val="E2EAF2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1239500" y="6305550"/>
            <a:ext cx="4381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275" b="1">
                <a:solidFill>
                  <a:srgbClr val="246BFE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D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46BFE"/>
          </a:solidFill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906000" y="0"/>
            <a:ext cx="2286000" cy="95250"/>
          </a:xfrm>
          <a:prstGeom prst="rect">
            <a:avLst/>
          </a:prstGeom>
          <a:solidFill>
            <a:srgbClr val="20B486"/>
          </a:solidFill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400050"/>
            <a:ext cx="4953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246B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数据到行动闭环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66750"/>
            <a:ext cx="7429500" cy="590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数据不是终点：从采集到执行形成运营闭环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23900" y="2457450"/>
            <a:ext cx="180975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BE6F1"/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914400" y="2647950"/>
            <a:ext cx="171450" cy="171450"/>
          </a:xfrm>
          <a:prstGeom prst="ellipse">
            <a:avLst/>
          </a:prstGeom>
          <a:solidFill>
            <a:srgbClr val="246BFE"/>
          </a:solidFill>
          <a:ln w="9525">
            <a:solidFill>
              <a:srgbClr val="246BFE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81100" y="2619375"/>
            <a:ext cx="1219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数据采集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2952750"/>
            <a:ext cx="1428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RPA Excel + 浏览器采集</a:t>
            </a:r>
          </a:p>
        </p:txBody>
      </p:sp>
      <p:sp>
        <p:nvSpPr>
          <p:cNvPr id="11" name="右箭头 10"/>
          <p:cNvSpPr>
            <a:spLocks noGrp="1"/>
          </p:cNvSpPr>
          <p:nvPr/>
        </p:nvSpPr>
        <p:spPr>
          <a:xfrm>
            <a:off x="2705100" y="2743200"/>
            <a:ext cx="514350" cy="285750"/>
          </a:xfrm>
          <a:prstGeom prst="rightArrow">
            <a:avLst/>
          </a:prstGeom>
          <a:solidFill>
            <a:srgbClr val="BFD7FF"/>
          </a:solidFill>
          <a:ln w="9525">
            <a:solidFill>
              <a:srgbClr val="BFD7FF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3371850" y="2457450"/>
            <a:ext cx="200025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BE6F1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3562350" y="2647950"/>
            <a:ext cx="171450" cy="171450"/>
          </a:xfrm>
          <a:prstGeom prst="ellipse">
            <a:avLst/>
          </a:prstGeom>
          <a:solidFill>
            <a:srgbClr val="20B486"/>
          </a:solidFill>
          <a:ln w="9525">
            <a:solidFill>
              <a:srgbClr val="20B486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829050" y="2619375"/>
            <a:ext cx="1409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结构化沉淀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562350" y="2952750"/>
            <a:ext cx="16192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飞书多维表格形成数据中枢</a:t>
            </a: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5543550" y="2743200"/>
            <a:ext cx="514350" cy="285750"/>
          </a:xfrm>
          <a:prstGeom prst="rightArrow">
            <a:avLst/>
          </a:prstGeom>
          <a:solidFill>
            <a:srgbClr val="BFEFDE"/>
          </a:solidFill>
          <a:ln w="9525">
            <a:solidFill>
              <a:srgbClr val="BFEFDE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6210300" y="2457450"/>
            <a:ext cx="20955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BE6F1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6400800" y="2647950"/>
            <a:ext cx="171450" cy="171450"/>
          </a:xfrm>
          <a:prstGeom prst="ellipse">
            <a:avLst/>
          </a:prstGeom>
          <a:solidFill>
            <a:srgbClr val="F5A524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667500" y="2619375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Agent 识别分析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400800" y="2952750"/>
            <a:ext cx="1714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匹配门店、负责人、指标异常</a:t>
            </a:r>
          </a:p>
        </p:txBody>
      </p:sp>
      <p:sp>
        <p:nvSpPr>
          <p:cNvPr id="21" name="右箭头 20"/>
          <p:cNvSpPr>
            <a:spLocks noGrp="1"/>
          </p:cNvSpPr>
          <p:nvPr/>
        </p:nvSpPr>
        <p:spPr>
          <a:xfrm>
            <a:off x="8477250" y="2743200"/>
            <a:ext cx="514350" cy="285750"/>
          </a:xfrm>
          <a:prstGeom prst="rightArrow">
            <a:avLst/>
          </a:prstGeom>
          <a:solidFill>
            <a:srgbClr val="FFE0AC"/>
          </a:solidFill>
          <a:ln w="9525">
            <a:solidFill>
              <a:srgbClr val="FFE0AC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9144000" y="2457450"/>
            <a:ext cx="20955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BE6F1"/>
            </a:solidFill>
            <a:prstDash val="solid"/>
          </a:ln>
        </p:spPr>
      </p:sp>
      <p:sp>
        <p:nvSpPr>
          <p:cNvPr id="23" name="椭圆 22"/>
          <p:cNvSpPr>
            <a:spLocks noGrp="1"/>
          </p:cNvSpPr>
          <p:nvPr/>
        </p:nvSpPr>
        <p:spPr>
          <a:xfrm>
            <a:off x="9334500" y="2647950"/>
            <a:ext cx="171450" cy="171450"/>
          </a:xfrm>
          <a:prstGeom prst="ellipse">
            <a:avLst/>
          </a:prstGeom>
          <a:solidFill>
            <a:srgbClr val="6E56CF"/>
          </a:solidFill>
          <a:ln w="9525">
            <a:solidFill>
              <a:srgbClr val="6E56C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601200" y="2619375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飞书触达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334500" y="2952750"/>
            <a:ext cx="1714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日报、预警、看板、确认卡片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210800" y="3486150"/>
            <a:ext cx="19050" cy="552450"/>
          </a:xfrm>
          <a:prstGeom prst="rect">
            <a:avLst/>
          </a:prstGeom>
          <a:solidFill>
            <a:srgbClr val="D9E3EE"/>
          </a:solidFill>
          <a:ln w="9525">
            <a:solidFill>
              <a:srgbClr val="D9E3EE"/>
            </a:solidFill>
            <a:prstDash val="solid"/>
          </a:ln>
        </p:spPr>
      </p:sp>
      <p:sp>
        <p:nvSpPr>
          <p:cNvPr id="27" name="下箭头 26"/>
          <p:cNvSpPr>
            <a:spLocks noGrp="1"/>
          </p:cNvSpPr>
          <p:nvPr/>
        </p:nvSpPr>
        <p:spPr>
          <a:xfrm>
            <a:off x="9944100" y="4000500"/>
            <a:ext cx="552450" cy="323850"/>
          </a:xfrm>
          <a:prstGeom prst="downArrow">
            <a:avLst/>
          </a:prstGeom>
          <a:solidFill>
            <a:srgbClr val="6E56CF"/>
          </a:solidFill>
          <a:ln w="9525">
            <a:solidFill>
              <a:srgbClr val="6E56CF"/>
            </a:solidFill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9144000" y="4419600"/>
            <a:ext cx="20955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BE6F1"/>
            </a:solidFill>
            <a:prstDash val="solid"/>
          </a:ln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9334500" y="4610100"/>
            <a:ext cx="171450" cy="171450"/>
          </a:xfrm>
          <a:prstGeom prst="ellipse">
            <a:avLst/>
          </a:prstGeom>
          <a:solidFill>
            <a:srgbClr val="EF4D5A"/>
          </a:solidFill>
          <a:ln w="9525">
            <a:solidFill>
              <a:srgbClr val="EF4D5A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601200" y="4581525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运营动作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334500" y="4914900"/>
            <a:ext cx="1714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诊断、回复、改价、活动调整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733550" y="4876800"/>
            <a:ext cx="7410450" cy="19050"/>
          </a:xfrm>
          <a:prstGeom prst="rect">
            <a:avLst/>
          </a:prstGeom>
          <a:solidFill>
            <a:srgbClr val="D9E3EE"/>
          </a:solidFill>
          <a:ln w="9525">
            <a:solidFill>
              <a:srgbClr val="D9E3EE"/>
            </a:solidFill>
            <a:prstDash val="solid"/>
          </a:ln>
        </p:spPr>
      </p:sp>
      <p:sp>
        <p:nvSpPr>
          <p:cNvPr id="33" name="左箭头 32"/>
          <p:cNvSpPr>
            <a:spLocks noGrp="1"/>
          </p:cNvSpPr>
          <p:nvPr/>
        </p:nvSpPr>
        <p:spPr>
          <a:xfrm>
            <a:off x="1562100" y="4705350"/>
            <a:ext cx="552450" cy="323850"/>
          </a:xfrm>
          <a:prstGeom prst="leftArrow">
            <a:avLst/>
          </a:prstGeom>
          <a:solidFill>
            <a:srgbClr val="20B486"/>
          </a:solidFill>
          <a:ln w="9525">
            <a:solidFill>
              <a:srgbClr val="20B486"/>
            </a:solidFill>
            <a:prstDash val="solid"/>
          </a:ln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723900" y="4419600"/>
            <a:ext cx="20955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BE6F1"/>
            </a:solidFill>
            <a:prstDash val="solid"/>
          </a:ln>
        </p:spPr>
      </p:sp>
      <p:sp>
        <p:nvSpPr>
          <p:cNvPr id="35" name="椭圆 34"/>
          <p:cNvSpPr>
            <a:spLocks noGrp="1"/>
          </p:cNvSpPr>
          <p:nvPr/>
        </p:nvSpPr>
        <p:spPr>
          <a:xfrm>
            <a:off x="914400" y="4610100"/>
            <a:ext cx="171450" cy="171450"/>
          </a:xfrm>
          <a:prstGeom prst="ellipse">
            <a:avLst/>
          </a:prstGeom>
          <a:solidFill>
            <a:srgbClr val="20B486"/>
          </a:solidFill>
          <a:ln w="9525">
            <a:solidFill>
              <a:srgbClr val="20B486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181100" y="4581525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知识沉淀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14400" y="4914900"/>
            <a:ext cx="1714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SOP 与经验回流知识库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695450" y="1676400"/>
            <a:ext cx="87630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02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关键变化：运营系统从“看报表”升级为“自动发现问题并推动动作”。</a:t>
            </a: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14350" y="6324600"/>
            <a:ext cx="4095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A8A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点之出众 · 餐饮代运营 AI 智能助手</a:t>
            </a: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14350" y="6153150"/>
            <a:ext cx="11163300" cy="9525"/>
          </a:xfrm>
          <a:prstGeom prst="rect">
            <a:avLst/>
          </a:prstGeom>
          <a:solidFill>
            <a:srgbClr val="E2EAF2"/>
          </a:solidFill>
          <a:ln w="9525">
            <a:solidFill>
              <a:srgbClr val="E2EAF2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1239500" y="6305550"/>
            <a:ext cx="4381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275" b="1">
                <a:solidFill>
                  <a:srgbClr val="246BFE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D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46BFE"/>
          </a:solidFill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906000" y="0"/>
            <a:ext cx="2286000" cy="95250"/>
          </a:xfrm>
          <a:prstGeom prst="rect">
            <a:avLst/>
          </a:prstGeom>
          <a:solidFill>
            <a:srgbClr val="20B486"/>
          </a:solidFill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400050"/>
            <a:ext cx="4953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246B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核心场景 1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66750"/>
            <a:ext cx="7429500" cy="590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日报 Agent：把“昨天发生了什么”自动讲清楚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04850" y="1581150"/>
            <a:ext cx="4781550" cy="3848100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9525">
            <a:solidFill>
              <a:srgbClr val="DDE7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1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1885950"/>
            <a:ext cx="2857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每日运营日报 · 2026-06-09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2209800"/>
            <a:ext cx="2857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趣东北 · 东北小馆（石岩店）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2724150"/>
            <a:ext cx="1428750" cy="361950"/>
          </a:xfrm>
          <a:prstGeom prst="rect">
            <a:avLst/>
          </a:prstGeom>
          <a:solidFill>
            <a:srgbClr val="EEF5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2809875"/>
            <a:ext cx="12382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246B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核心指标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457450" y="2724150"/>
            <a:ext cx="1257300" cy="361950"/>
          </a:xfrm>
          <a:prstGeom prst="rect">
            <a:avLst/>
          </a:prstGeom>
          <a:solidFill>
            <a:srgbClr val="EEF5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552700" y="2809875"/>
            <a:ext cx="1066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昨日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714750" y="2724150"/>
            <a:ext cx="1257300" cy="361950"/>
          </a:xfrm>
          <a:prstGeom prst="rect">
            <a:avLst/>
          </a:prstGeom>
          <a:solidFill>
            <a:srgbClr val="EEF5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810000" y="2809875"/>
            <a:ext cx="1066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246B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环比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28700" y="3143250"/>
            <a:ext cx="1428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123950" y="3228975"/>
            <a:ext cx="12382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营业额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457450" y="3143250"/>
            <a:ext cx="12573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552700" y="3228975"/>
            <a:ext cx="1066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¥2,350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714750" y="3143250"/>
            <a:ext cx="1257300" cy="361950"/>
          </a:xfrm>
          <a:prstGeom prst="rect">
            <a:avLst/>
          </a:prstGeom>
          <a:solidFill>
            <a:srgbClr val="F1FBF7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810000" y="3228975"/>
            <a:ext cx="1066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20B4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+7.8%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28700" y="3562350"/>
            <a:ext cx="1428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123950" y="3648075"/>
            <a:ext cx="12382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有效订单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457450" y="3562350"/>
            <a:ext cx="12573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552700" y="3648075"/>
            <a:ext cx="1066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57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714750" y="3562350"/>
            <a:ext cx="1257300" cy="361950"/>
          </a:xfrm>
          <a:prstGeom prst="rect">
            <a:avLst/>
          </a:prstGeom>
          <a:solidFill>
            <a:srgbClr val="F1FBF7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810000" y="3648075"/>
            <a:ext cx="1066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20B4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+9.6%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28700" y="3981450"/>
            <a:ext cx="1428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123950" y="4067175"/>
            <a:ext cx="12382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进店转化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457450" y="3981450"/>
            <a:ext cx="12573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2552700" y="4067175"/>
            <a:ext cx="1066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10.6%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714750" y="3981450"/>
            <a:ext cx="1257300" cy="361950"/>
          </a:xfrm>
          <a:prstGeom prst="rect">
            <a:avLst/>
          </a:prstGeom>
          <a:solidFill>
            <a:srgbClr val="F1FBF7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3810000" y="4067175"/>
            <a:ext cx="1066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20B4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+0.5pp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028700" y="4400550"/>
            <a:ext cx="1428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123950" y="4486275"/>
            <a:ext cx="12382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下单转化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457450" y="4400550"/>
            <a:ext cx="12573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2552700" y="4486275"/>
            <a:ext cx="1066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26.5%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3714750" y="4400550"/>
            <a:ext cx="1257300" cy="361950"/>
          </a:xfrm>
          <a:prstGeom prst="rect">
            <a:avLst/>
          </a:prstGeom>
          <a:solidFill>
            <a:srgbClr val="F1FBF7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3810000" y="4486275"/>
            <a:ext cx="1066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20B4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+0.7pp</a:t>
            </a: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5905500" y="1886585"/>
            <a:ext cx="4953000" cy="1061085"/>
          </a:xfrm>
          <a:prstGeom prst="roundRect">
            <a:avLst>
              <a:gd name="adj" fmla="val 15385"/>
            </a:avLst>
          </a:prstGeom>
          <a:solidFill>
            <a:srgbClr val="FFF8EA"/>
          </a:solidFill>
          <a:ln w="9525">
            <a:solidFill>
              <a:srgbClr val="FFE0AC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210300" y="2019300"/>
            <a:ext cx="2095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5A52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日报不只是报数</a:t>
            </a: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210300" y="2381250"/>
            <a:ext cx="40957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自动把营收、流量、转化、质量、活动和复购指标整理成运营人员当天可以处理的待办。</a:t>
            </a: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229350" y="3238500"/>
            <a:ext cx="1485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营业额</a:t>
            </a: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7810500" y="3267075"/>
            <a:ext cx="2857500" cy="133350"/>
          </a:xfrm>
          <a:prstGeom prst="roundRect">
            <a:avLst>
              <a:gd name="adj" fmla="val 50000"/>
            </a:avLst>
          </a:prstGeom>
          <a:solidFill>
            <a:srgbClr val="E8EFF6"/>
          </a:solidFill>
        </p:spPr>
      </p:sp>
      <p:sp>
        <p:nvSpPr>
          <p:cNvPr id="45" name="圆角矩形 44"/>
          <p:cNvSpPr>
            <a:spLocks noGrp="1"/>
          </p:cNvSpPr>
          <p:nvPr/>
        </p:nvSpPr>
        <p:spPr>
          <a:xfrm>
            <a:off x="7810500" y="3267075"/>
            <a:ext cx="2228850" cy="133350"/>
          </a:xfrm>
          <a:prstGeom prst="roundRect">
            <a:avLst>
              <a:gd name="adj" fmla="val 50000"/>
            </a:avLst>
          </a:prstGeom>
          <a:solidFill>
            <a:srgbClr val="246BFE"/>
          </a:solidFill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10820400" y="3228975"/>
            <a:ext cx="8191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200" b="1">
                <a:solidFill>
                  <a:srgbClr val="246BFE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¥2,350</a:t>
            </a: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229350" y="3657600"/>
            <a:ext cx="1485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有效订单</a:t>
            </a: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7810500" y="3686175"/>
            <a:ext cx="2857500" cy="133350"/>
          </a:xfrm>
          <a:prstGeom prst="roundRect">
            <a:avLst>
              <a:gd name="adj" fmla="val 50000"/>
            </a:avLst>
          </a:prstGeom>
          <a:solidFill>
            <a:srgbClr val="E8EFF6"/>
          </a:solidFill>
        </p:spPr>
      </p:sp>
      <p:sp>
        <p:nvSpPr>
          <p:cNvPr id="49" name="圆角矩形 48"/>
          <p:cNvSpPr>
            <a:spLocks noGrp="1"/>
          </p:cNvSpPr>
          <p:nvPr/>
        </p:nvSpPr>
        <p:spPr>
          <a:xfrm>
            <a:off x="7810500" y="3686175"/>
            <a:ext cx="1914525" cy="133350"/>
          </a:xfrm>
          <a:prstGeom prst="roundRect">
            <a:avLst>
              <a:gd name="adj" fmla="val 50000"/>
            </a:avLst>
          </a:prstGeom>
          <a:solidFill>
            <a:srgbClr val="20B486"/>
          </a:solidFill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0820400" y="3648075"/>
            <a:ext cx="8191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200" b="1">
                <a:solidFill>
                  <a:srgbClr val="20B486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57</a:t>
            </a: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6229350" y="4076700"/>
            <a:ext cx="1485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曝光人数</a:t>
            </a: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7810500" y="4105275"/>
            <a:ext cx="2857500" cy="133350"/>
          </a:xfrm>
          <a:prstGeom prst="roundRect">
            <a:avLst>
              <a:gd name="adj" fmla="val 50000"/>
            </a:avLst>
          </a:prstGeom>
          <a:solidFill>
            <a:srgbClr val="E8EFF6"/>
          </a:solidFill>
        </p:spPr>
      </p:sp>
      <p:sp>
        <p:nvSpPr>
          <p:cNvPr id="53" name="圆角矩形 52"/>
          <p:cNvSpPr>
            <a:spLocks noGrp="1"/>
          </p:cNvSpPr>
          <p:nvPr/>
        </p:nvSpPr>
        <p:spPr>
          <a:xfrm>
            <a:off x="7810500" y="4105275"/>
            <a:ext cx="2343150" cy="133350"/>
          </a:xfrm>
          <a:prstGeom prst="roundRect">
            <a:avLst>
              <a:gd name="adj" fmla="val 50000"/>
            </a:avLst>
          </a:prstGeom>
          <a:solidFill>
            <a:srgbClr val="10B8D8"/>
          </a:solidFill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10820400" y="4067175"/>
            <a:ext cx="8191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200" b="1">
                <a:solidFill>
                  <a:srgbClr val="10B8D8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1,985</a:t>
            </a: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6229350" y="4495800"/>
            <a:ext cx="1485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下单转化</a:t>
            </a:r>
          </a:p>
        </p:txBody>
      </p:sp>
      <p:sp>
        <p:nvSpPr>
          <p:cNvPr id="56" name="圆角矩形 55"/>
          <p:cNvSpPr>
            <a:spLocks noGrp="1"/>
          </p:cNvSpPr>
          <p:nvPr/>
        </p:nvSpPr>
        <p:spPr>
          <a:xfrm>
            <a:off x="7810500" y="4524375"/>
            <a:ext cx="2857500" cy="133350"/>
          </a:xfrm>
          <a:prstGeom prst="roundRect">
            <a:avLst>
              <a:gd name="adj" fmla="val 50000"/>
            </a:avLst>
          </a:prstGeom>
          <a:solidFill>
            <a:srgbClr val="E8EFF6"/>
          </a:solidFill>
        </p:spPr>
      </p:sp>
      <p:sp>
        <p:nvSpPr>
          <p:cNvPr id="57" name="圆角矩形 56"/>
          <p:cNvSpPr>
            <a:spLocks noGrp="1"/>
          </p:cNvSpPr>
          <p:nvPr/>
        </p:nvSpPr>
        <p:spPr>
          <a:xfrm>
            <a:off x="7810500" y="4524375"/>
            <a:ext cx="1485900" cy="133350"/>
          </a:xfrm>
          <a:prstGeom prst="roundRect">
            <a:avLst>
              <a:gd name="adj" fmla="val 50000"/>
            </a:avLst>
          </a:prstGeom>
          <a:solidFill>
            <a:srgbClr val="F5A524"/>
          </a:solidFill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10820400" y="4486275"/>
            <a:ext cx="8191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200" b="1">
                <a:solidFill>
                  <a:srgbClr val="F5A524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26.5%</a:t>
            </a: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6229350" y="5010150"/>
            <a:ext cx="4381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EF4D5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今日待办：菜品图更新 3 个 · 活动到期续签 1 个 · 出餐超时 16 单</a:t>
            </a: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514350" y="6324600"/>
            <a:ext cx="4095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A8A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点之出众 · 餐饮代运营 AI 智能助手</a:t>
            </a: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514350" y="6153150"/>
            <a:ext cx="11163300" cy="9525"/>
          </a:xfrm>
          <a:prstGeom prst="rect">
            <a:avLst/>
          </a:prstGeom>
          <a:solidFill>
            <a:srgbClr val="E2EAF2"/>
          </a:solidFill>
          <a:ln w="9525">
            <a:solidFill>
              <a:srgbClr val="E2EAF2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11239500" y="6305550"/>
            <a:ext cx="4381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275" b="1">
                <a:solidFill>
                  <a:srgbClr val="246BFE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D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46BFE"/>
          </a:solidFill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906000" y="0"/>
            <a:ext cx="2286000" cy="95250"/>
          </a:xfrm>
          <a:prstGeom prst="rect">
            <a:avLst/>
          </a:prstGeom>
          <a:solidFill>
            <a:srgbClr val="20B486"/>
          </a:solidFill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400050"/>
            <a:ext cx="4953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246B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核心场景 2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66750"/>
            <a:ext cx="7429500" cy="590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预警 + 问数：把被动巡检改成主动发现与即时追问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23900" y="1619250"/>
            <a:ext cx="4705350" cy="3543300"/>
          </a:xfrm>
          <a:prstGeom prst="roundRect">
            <a:avLst>
              <a:gd name="adj" fmla="val 4839"/>
            </a:avLst>
          </a:prstGeom>
          <a:solidFill>
            <a:srgbClr val="FFF5F5"/>
          </a:solidFill>
          <a:ln w="9525">
            <a:solidFill>
              <a:srgbClr val="FFD6D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66800" y="1943100"/>
            <a:ext cx="1714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EF4D5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营业额预警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66800" y="2381250"/>
            <a:ext cx="35623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趣东北（石岩店）营业额环比下降 18.5%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66800" y="2990850"/>
            <a:ext cx="1485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营业额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647950" y="3019425"/>
            <a:ext cx="2857500" cy="133350"/>
          </a:xfrm>
          <a:prstGeom prst="roundRect">
            <a:avLst>
              <a:gd name="adj" fmla="val 50000"/>
            </a:avLst>
          </a:prstGeom>
          <a:solidFill>
            <a:srgbClr val="E8EFF6"/>
          </a:solidFill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2647950" y="3019425"/>
            <a:ext cx="2343150" cy="133350"/>
          </a:xfrm>
          <a:prstGeom prst="roundRect">
            <a:avLst>
              <a:gd name="adj" fmla="val 50000"/>
            </a:avLst>
          </a:prstGeom>
          <a:solidFill>
            <a:srgbClr val="EF4D5A"/>
          </a:solidFill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657850" y="2981325"/>
            <a:ext cx="8191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200" b="1">
                <a:solidFill>
                  <a:srgbClr val="EF4D5A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-18.5%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3448050"/>
            <a:ext cx="1485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曝光人数</a:t>
            </a: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2647950" y="3476625"/>
            <a:ext cx="2857500" cy="133350"/>
          </a:xfrm>
          <a:prstGeom prst="roundRect">
            <a:avLst>
              <a:gd name="adj" fmla="val 50000"/>
            </a:avLst>
          </a:prstGeom>
          <a:solidFill>
            <a:srgbClr val="E8EFF6"/>
          </a:solidFill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2647950" y="3476625"/>
            <a:ext cx="1600200" cy="133350"/>
          </a:xfrm>
          <a:prstGeom prst="roundRect">
            <a:avLst>
              <a:gd name="adj" fmla="val 50000"/>
            </a:avLst>
          </a:prstGeom>
          <a:solidFill>
            <a:srgbClr val="F5A524"/>
          </a:solidFill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657850" y="3438525"/>
            <a:ext cx="8191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200" b="1">
                <a:solidFill>
                  <a:srgbClr val="F5A524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-12%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66800" y="3905250"/>
            <a:ext cx="1485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进店转化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2647950" y="3933825"/>
            <a:ext cx="2857500" cy="133350"/>
          </a:xfrm>
          <a:prstGeom prst="roundRect">
            <a:avLst>
              <a:gd name="adj" fmla="val 50000"/>
            </a:avLst>
          </a:prstGeom>
          <a:solidFill>
            <a:srgbClr val="E8EFF6"/>
          </a:solidFill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2647950" y="3933825"/>
            <a:ext cx="685800" cy="133350"/>
          </a:xfrm>
          <a:prstGeom prst="roundRect">
            <a:avLst>
              <a:gd name="adj" fmla="val 50000"/>
            </a:avLst>
          </a:prstGeom>
          <a:solidFill>
            <a:srgbClr val="20B486"/>
          </a:solidFill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657850" y="3895725"/>
            <a:ext cx="8191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200" b="1">
                <a:solidFill>
                  <a:srgbClr val="20B486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持平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66800" y="4495800"/>
            <a:ext cx="36385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AI 初步分析：曝光下滑是主要因素，页面转化未明显恶化；若今日继续下滑，优先检查活动与推广。</a:t>
            </a: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115050" y="1619250"/>
            <a:ext cx="4705350" cy="3543300"/>
          </a:xfrm>
          <a:prstGeom prst="roundRect">
            <a:avLst>
              <a:gd name="adj" fmla="val 4839"/>
            </a:avLst>
          </a:prstGeom>
          <a:solidFill>
            <a:srgbClr val="EEF8FB"/>
          </a:solidFill>
          <a:ln w="9525">
            <a:solidFill>
              <a:srgbClr val="BFE9F1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457950" y="1943100"/>
            <a:ext cx="20002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10B8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自然语言问数</a:t>
            </a: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6457950" y="2419350"/>
            <a:ext cx="3581400" cy="552450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9525">
            <a:solidFill>
              <a:srgbClr val="DDE7F0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705600" y="2590800"/>
            <a:ext cx="3086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门店 A 上周营业额趋势怎么样？</a:t>
            </a:r>
          </a:p>
        </p:txBody>
      </p:sp>
      <p:sp>
        <p:nvSpPr>
          <p:cNvPr id="27" name="下箭头 26"/>
          <p:cNvSpPr>
            <a:spLocks noGrp="1"/>
          </p:cNvSpPr>
          <p:nvPr/>
        </p:nvSpPr>
        <p:spPr>
          <a:xfrm>
            <a:off x="7867650" y="3105150"/>
            <a:ext cx="419100" cy="266700"/>
          </a:xfrm>
          <a:prstGeom prst="downArrow">
            <a:avLst/>
          </a:prstGeom>
          <a:solidFill>
            <a:srgbClr val="10B8D8"/>
          </a:solidFill>
          <a:ln w="9525">
            <a:solidFill>
              <a:srgbClr val="10B8D8"/>
            </a:solidFill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6629400" y="3476625"/>
            <a:ext cx="3219450" cy="131381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DE7F0"/>
            </a:solidFill>
            <a:prstDash val="solid"/>
          </a:ln>
        </p:spPr>
      </p:sp>
      <p:sp>
        <p:nvSpPr>
          <p:cNvPr id="29" name="圆角矩形 28"/>
          <p:cNvSpPr>
            <a:spLocks noGrp="1"/>
          </p:cNvSpPr>
          <p:nvPr/>
        </p:nvSpPr>
        <p:spPr>
          <a:xfrm>
            <a:off x="6896100" y="3984498"/>
            <a:ext cx="190500" cy="377952"/>
          </a:xfrm>
          <a:prstGeom prst="roundRect">
            <a:avLst>
              <a:gd name="adj" fmla="val 20000"/>
            </a:avLst>
          </a:prstGeom>
          <a:solidFill>
            <a:srgbClr val="8DD7E6"/>
          </a:solidFill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762750" y="4419600"/>
            <a:ext cx="4572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00">
                <a:solidFill>
                  <a:srgbClr val="7A8A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周一</a:t>
            </a: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7296150" y="4045458"/>
            <a:ext cx="190500" cy="316992"/>
          </a:xfrm>
          <a:prstGeom prst="roundRect">
            <a:avLst>
              <a:gd name="adj" fmla="val 20000"/>
            </a:avLst>
          </a:prstGeom>
          <a:solidFill>
            <a:srgbClr val="8DD7E6"/>
          </a:solidFill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162800" y="4419600"/>
            <a:ext cx="4572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00">
                <a:solidFill>
                  <a:srgbClr val="7A8A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周二</a:t>
            </a: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7696200" y="4082034"/>
            <a:ext cx="190500" cy="280416"/>
          </a:xfrm>
          <a:prstGeom prst="roundRect">
            <a:avLst>
              <a:gd name="adj" fmla="val 20000"/>
            </a:avLst>
          </a:prstGeom>
          <a:solidFill>
            <a:srgbClr val="8DD7E6"/>
          </a:solidFill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562850" y="4419600"/>
            <a:ext cx="4572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00">
                <a:solidFill>
                  <a:srgbClr val="7A8A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周三</a:t>
            </a: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8096250" y="4027170"/>
            <a:ext cx="190500" cy="335280"/>
          </a:xfrm>
          <a:prstGeom prst="roundRect">
            <a:avLst>
              <a:gd name="adj" fmla="val 20000"/>
            </a:avLst>
          </a:prstGeom>
          <a:solidFill>
            <a:srgbClr val="8DD7E6"/>
          </a:solidFill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962900" y="4419600"/>
            <a:ext cx="4572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00">
                <a:solidFill>
                  <a:srgbClr val="7A8A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周四</a:t>
            </a: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8496300" y="3886962"/>
            <a:ext cx="190500" cy="475488"/>
          </a:xfrm>
          <a:prstGeom prst="roundRect">
            <a:avLst>
              <a:gd name="adj" fmla="val 20000"/>
            </a:avLst>
          </a:prstGeom>
          <a:solidFill>
            <a:srgbClr val="8DD7E6"/>
          </a:solidFill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362950" y="4419600"/>
            <a:ext cx="4572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00">
                <a:solidFill>
                  <a:srgbClr val="7A8A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周五</a:t>
            </a: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8896350" y="3801618"/>
            <a:ext cx="190500" cy="560832"/>
          </a:xfrm>
          <a:prstGeom prst="roundRect">
            <a:avLst>
              <a:gd name="adj" fmla="val 20000"/>
            </a:avLst>
          </a:prstGeom>
          <a:solidFill>
            <a:srgbClr val="246BFE"/>
          </a:solidFill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763000" y="4419600"/>
            <a:ext cx="4572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00">
                <a:solidFill>
                  <a:srgbClr val="7A8A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周六</a:t>
            </a: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9296400" y="4057650"/>
            <a:ext cx="190500" cy="304800"/>
          </a:xfrm>
          <a:prstGeom prst="roundRect">
            <a:avLst>
              <a:gd name="adj" fmla="val 20000"/>
            </a:avLst>
          </a:prstGeom>
          <a:solidFill>
            <a:srgbClr val="8DD7E6"/>
          </a:solidFill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9163050" y="4419600"/>
            <a:ext cx="4572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00">
                <a:solidFill>
                  <a:srgbClr val="7A8A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周日</a:t>
            </a: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048500" y="3619500"/>
            <a:ext cx="25717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周均 ¥2,617 · 环比 +3.2% · 周六峰值明显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514350" y="6324600"/>
            <a:ext cx="4095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A8A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点之出众 · 餐饮代运营 AI 智能助手</a:t>
            </a: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514350" y="6153150"/>
            <a:ext cx="11163300" cy="9525"/>
          </a:xfrm>
          <a:prstGeom prst="rect">
            <a:avLst/>
          </a:prstGeom>
          <a:solidFill>
            <a:srgbClr val="E2EAF2"/>
          </a:solidFill>
          <a:ln w="9525">
            <a:solidFill>
              <a:srgbClr val="E2EAF2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11239500" y="6305550"/>
            <a:ext cx="4381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275" b="1">
                <a:solidFill>
                  <a:srgbClr val="246BFE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D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46BFE"/>
          </a:solidFill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906000" y="0"/>
            <a:ext cx="2286000" cy="95250"/>
          </a:xfrm>
          <a:prstGeom prst="rect">
            <a:avLst/>
          </a:prstGeom>
          <a:solidFill>
            <a:srgbClr val="20B486"/>
          </a:solidFill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400050"/>
            <a:ext cx="4953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246B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核心场景 3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66750"/>
            <a:ext cx="7429500" cy="590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执行 Agent：高风险动作先确认，再自动操作后台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81050" y="2343150"/>
            <a:ext cx="219075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BE6F1"/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971550" y="2533650"/>
            <a:ext cx="171450" cy="171450"/>
          </a:xfrm>
          <a:prstGeom prst="ellipse">
            <a:avLst/>
          </a:prstGeom>
          <a:solidFill>
            <a:srgbClr val="246BFE"/>
          </a:solidFill>
          <a:ln w="9525">
            <a:solidFill>
              <a:srgbClr val="246BFE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38250" y="2505075"/>
            <a:ext cx="1600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运营发起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71550" y="2838450"/>
            <a:ext cx="1809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“把门店 B 营业时间改为 10:00-23:00”</a:t>
            </a:r>
          </a:p>
        </p:txBody>
      </p:sp>
      <p:sp>
        <p:nvSpPr>
          <p:cNvPr id="11" name="右箭头 10"/>
          <p:cNvSpPr>
            <a:spLocks noGrp="1"/>
          </p:cNvSpPr>
          <p:nvPr/>
        </p:nvSpPr>
        <p:spPr>
          <a:xfrm>
            <a:off x="3124200" y="2647950"/>
            <a:ext cx="514350" cy="285750"/>
          </a:xfrm>
          <a:prstGeom prst="rightArrow">
            <a:avLst/>
          </a:prstGeom>
          <a:solidFill>
            <a:srgbClr val="BFD7FF"/>
          </a:solidFill>
          <a:ln w="9525">
            <a:solidFill>
              <a:srgbClr val="BFD7FF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3790950" y="2343150"/>
            <a:ext cx="20955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BE6F1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3981450" y="2533650"/>
            <a:ext cx="171450" cy="171450"/>
          </a:xfrm>
          <a:prstGeom prst="ellipse">
            <a:avLst/>
          </a:prstGeom>
          <a:solidFill>
            <a:srgbClr val="F5A524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248150" y="2505075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AI 生成计划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981450" y="2838450"/>
            <a:ext cx="1714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匹配门店、平台、字段与目标值</a:t>
            </a: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6057900" y="2647950"/>
            <a:ext cx="514350" cy="285750"/>
          </a:xfrm>
          <a:prstGeom prst="rightArrow">
            <a:avLst/>
          </a:prstGeom>
          <a:solidFill>
            <a:srgbClr val="FFE0AC"/>
          </a:solidFill>
          <a:ln w="9525">
            <a:solidFill>
              <a:srgbClr val="FFE0AC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6724650" y="2343150"/>
            <a:ext cx="20955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BE6F1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6915150" y="2533650"/>
            <a:ext cx="171450" cy="171450"/>
          </a:xfrm>
          <a:prstGeom prst="ellipse">
            <a:avLst/>
          </a:prstGeom>
          <a:solidFill>
            <a:srgbClr val="20B486"/>
          </a:solidFill>
          <a:ln w="9525">
            <a:solidFill>
              <a:srgbClr val="20B48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181850" y="2505075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飞书确认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915150" y="2838450"/>
            <a:ext cx="1714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中高风险动作推送卡片确认</a:t>
            </a:r>
          </a:p>
        </p:txBody>
      </p:sp>
      <p:sp>
        <p:nvSpPr>
          <p:cNvPr id="21" name="右箭头 20"/>
          <p:cNvSpPr>
            <a:spLocks noGrp="1"/>
          </p:cNvSpPr>
          <p:nvPr/>
        </p:nvSpPr>
        <p:spPr>
          <a:xfrm>
            <a:off x="8991600" y="2647950"/>
            <a:ext cx="514350" cy="285750"/>
          </a:xfrm>
          <a:prstGeom prst="rightArrow">
            <a:avLst/>
          </a:prstGeom>
          <a:solidFill>
            <a:srgbClr val="BFEFDE"/>
          </a:solidFill>
          <a:ln w="9525">
            <a:solidFill>
              <a:srgbClr val="BFEFDE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9658350" y="2343150"/>
            <a:ext cx="17526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BE6F1"/>
            </a:solidFill>
            <a:prstDash val="solid"/>
          </a:ln>
        </p:spPr>
      </p:sp>
      <p:sp>
        <p:nvSpPr>
          <p:cNvPr id="23" name="椭圆 22"/>
          <p:cNvSpPr>
            <a:spLocks noGrp="1"/>
          </p:cNvSpPr>
          <p:nvPr/>
        </p:nvSpPr>
        <p:spPr>
          <a:xfrm>
            <a:off x="9848850" y="2533650"/>
            <a:ext cx="171450" cy="171450"/>
          </a:xfrm>
          <a:prstGeom prst="ellipse">
            <a:avLst/>
          </a:prstGeom>
          <a:solidFill>
            <a:srgbClr val="6E56CF"/>
          </a:solidFill>
          <a:ln w="9525">
            <a:solidFill>
              <a:srgbClr val="6E56C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115550" y="2505075"/>
            <a:ext cx="1162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自动执行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848850" y="2838450"/>
            <a:ext cx="13716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操作完成后回传结果和记录</a:t>
            </a: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1485900" y="3905250"/>
            <a:ext cx="922020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E7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3">
            <a:srgbClr val="FFFFFF"/>
          </a:effectRef>
          <a:fontRef idx="major"/>
        </p:style>
      </p:sp>
      <p:sp>
        <p:nvSpPr>
          <p:cNvPr id="27" name="矩形 26"/>
          <p:cNvSpPr>
            <a:spLocks noGrp="1"/>
          </p:cNvSpPr>
          <p:nvPr/>
        </p:nvSpPr>
        <p:spPr>
          <a:xfrm>
            <a:off x="1847850" y="4171950"/>
            <a:ext cx="1428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风险控制原则</a:t>
            </a: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3695700" y="4229100"/>
            <a:ext cx="152400" cy="152400"/>
          </a:xfrm>
          <a:prstGeom prst="ellipse">
            <a:avLst/>
          </a:prstGeom>
          <a:solidFill>
            <a:srgbClr val="20B486"/>
          </a:solidFill>
          <a:ln w="9525">
            <a:solidFill>
              <a:srgbClr val="20B486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3924300" y="4133850"/>
            <a:ext cx="685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20B4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低风险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924300" y="4400550"/>
            <a:ext cx="1600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查看门店信息</a:t>
            </a: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5867400" y="4229100"/>
            <a:ext cx="152400" cy="152400"/>
          </a:xfrm>
          <a:prstGeom prst="ellipse">
            <a:avLst/>
          </a:prstGeom>
          <a:solidFill>
            <a:srgbClr val="F5A524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096000" y="4133850"/>
            <a:ext cx="685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5A52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中风险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096000" y="4400550"/>
            <a:ext cx="1600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营业时间 / 菜品图片 / 门店装修</a:t>
            </a:r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8039100" y="4229100"/>
            <a:ext cx="152400" cy="152400"/>
          </a:xfrm>
          <a:prstGeom prst="ellipse">
            <a:avLst/>
          </a:prstGeom>
          <a:solidFill>
            <a:srgbClr val="EF4D5A"/>
          </a:solidFill>
          <a:ln w="9525">
            <a:solidFill>
              <a:srgbClr val="EF4D5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267700" y="4133850"/>
            <a:ext cx="685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EF4D5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高风险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267700" y="4400550"/>
            <a:ext cx="1600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电话 / 菜品价格 / 活动设置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714500" y="5257800"/>
            <a:ext cx="85725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246B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产品展示重点：强调“确认机制 + 结果回传 + 操作留痕”，让自动执行可控、可查、可复盘。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14350" y="6324600"/>
            <a:ext cx="4095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A8A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点之出众 · 餐饮代运营 AI 智能助手</a:t>
            </a: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14350" y="6153150"/>
            <a:ext cx="11163300" cy="9525"/>
          </a:xfrm>
          <a:prstGeom prst="rect">
            <a:avLst/>
          </a:prstGeom>
          <a:solidFill>
            <a:srgbClr val="E2EAF2"/>
          </a:solidFill>
          <a:ln w="9525">
            <a:solidFill>
              <a:srgbClr val="E2EAF2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1239500" y="6305550"/>
            <a:ext cx="4381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275" b="1">
                <a:solidFill>
                  <a:srgbClr val="246BFE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D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46BFE"/>
          </a:solidFill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906000" y="0"/>
            <a:ext cx="2286000" cy="95250"/>
          </a:xfrm>
          <a:prstGeom prst="rect">
            <a:avLst/>
          </a:prstGeom>
          <a:solidFill>
            <a:srgbClr val="20B486"/>
          </a:solidFill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400050"/>
            <a:ext cx="4953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246B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增长诊断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66750"/>
            <a:ext cx="7429500" cy="590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增长 Agent：把营收下滑拆成可排查、可行动的问题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81050" y="1695450"/>
            <a:ext cx="2381250" cy="1066800"/>
          </a:xfrm>
          <a:prstGeom prst="roundRect">
            <a:avLst>
              <a:gd name="adj" fmla="val 16071"/>
            </a:avLst>
          </a:prstGeom>
          <a:solidFill>
            <a:srgbClr val="EEF5FF"/>
          </a:solidFill>
          <a:ln w="9525">
            <a:solidFill>
              <a:srgbClr val="BFD7F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81100" y="1962150"/>
            <a:ext cx="876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246B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营业额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81100" y="2305050"/>
            <a:ext cx="952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7A8A9C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Revenue</a:t>
            </a:r>
          </a:p>
        </p:txBody>
      </p:sp>
      <p:sp>
        <p:nvSpPr>
          <p:cNvPr id="10" name="右箭头 9"/>
          <p:cNvSpPr>
            <a:spLocks noGrp="1"/>
          </p:cNvSpPr>
          <p:nvPr/>
        </p:nvSpPr>
        <p:spPr>
          <a:xfrm>
            <a:off x="3371850" y="2076450"/>
            <a:ext cx="628650" cy="400050"/>
          </a:xfrm>
          <a:prstGeom prst="rightArrow">
            <a:avLst/>
          </a:prstGeom>
          <a:solidFill>
            <a:srgbClr val="246BFE"/>
          </a:solidFill>
          <a:ln w="9525">
            <a:solidFill>
              <a:srgbClr val="246BFE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4286250" y="1676400"/>
            <a:ext cx="1352550" cy="110490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10B8D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476750" y="1962150"/>
            <a:ext cx="9715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0B8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曝光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457700" y="2305050"/>
            <a:ext cx="1009650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05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排名 · 活动 · 推广</a:t>
            </a: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943600" y="1676400"/>
            <a:ext cx="1352550" cy="110490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20B48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134100" y="1962150"/>
            <a:ext cx="9715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0B4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进店转化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115050" y="2305050"/>
            <a:ext cx="1009650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05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评分 · 页面 · 菜单</a:t>
            </a: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600950" y="1676400"/>
            <a:ext cx="1352550" cy="110490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791450" y="1962150"/>
            <a:ext cx="9715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5A52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下单转化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772400" y="2305050"/>
            <a:ext cx="1009650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05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价格 · 满减 · 评论</a:t>
            </a: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258300" y="1676400"/>
            <a:ext cx="1352550" cy="110490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6E56C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448800" y="1962150"/>
            <a:ext cx="9715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6E56C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客单价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429750" y="2305050"/>
            <a:ext cx="1009650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05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菜品结构 · 套餐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086350" y="3162300"/>
            <a:ext cx="4686300" cy="19050"/>
          </a:xfrm>
          <a:prstGeom prst="rect">
            <a:avLst/>
          </a:prstGeom>
          <a:solidFill>
            <a:srgbClr val="D9E3EE"/>
          </a:solidFill>
          <a:ln w="9525">
            <a:solidFill>
              <a:srgbClr val="D9E3EE"/>
            </a:solidFill>
            <a:prstDash val="solid"/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1866900" y="3543300"/>
            <a:ext cx="323850" cy="323850"/>
          </a:xfrm>
          <a:prstGeom prst="ellipse">
            <a:avLst/>
          </a:prstGeom>
          <a:solidFill>
            <a:srgbClr val="246BFE"/>
          </a:solidFill>
          <a:ln w="9525">
            <a:solidFill>
              <a:srgbClr val="246BFE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866900" y="3590925"/>
            <a:ext cx="3238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350" b="1">
                <a:solidFill>
                  <a:srgbClr val="FFFFFF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1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276350" y="4019550"/>
            <a:ext cx="15049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定位下滑指标</a:t>
            </a:r>
          </a:p>
        </p:txBody>
      </p:sp>
      <p:sp>
        <p:nvSpPr>
          <p:cNvPr id="27" name="右箭头 26"/>
          <p:cNvSpPr>
            <a:spLocks noGrp="1"/>
          </p:cNvSpPr>
          <p:nvPr/>
        </p:nvSpPr>
        <p:spPr>
          <a:xfrm>
            <a:off x="2590800" y="3562350"/>
            <a:ext cx="666750" cy="285750"/>
          </a:xfrm>
          <a:prstGeom prst="rightArrow">
            <a:avLst/>
          </a:prstGeom>
          <a:solidFill>
            <a:srgbClr val="D5E2EF"/>
          </a:solidFill>
          <a:ln w="9525">
            <a:solidFill>
              <a:srgbClr val="D5E2EF"/>
            </a:solidFill>
            <a:prstDash val="solid"/>
          </a:ln>
        </p:spPr>
      </p:sp>
      <p:sp>
        <p:nvSpPr>
          <p:cNvPr id="28" name="椭圆 27"/>
          <p:cNvSpPr>
            <a:spLocks noGrp="1"/>
          </p:cNvSpPr>
          <p:nvPr/>
        </p:nvSpPr>
        <p:spPr>
          <a:xfrm>
            <a:off x="4248150" y="3543300"/>
            <a:ext cx="323850" cy="323850"/>
          </a:xfrm>
          <a:prstGeom prst="ellipse">
            <a:avLst/>
          </a:prstGeom>
          <a:solidFill>
            <a:srgbClr val="F5A524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248150" y="3590925"/>
            <a:ext cx="3238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350" b="1">
                <a:solidFill>
                  <a:srgbClr val="FFFFFF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2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657600" y="4019550"/>
            <a:ext cx="15049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逐层排查原因</a:t>
            </a:r>
          </a:p>
        </p:txBody>
      </p:sp>
      <p:sp>
        <p:nvSpPr>
          <p:cNvPr id="31" name="右箭头 30"/>
          <p:cNvSpPr>
            <a:spLocks noGrp="1"/>
          </p:cNvSpPr>
          <p:nvPr/>
        </p:nvSpPr>
        <p:spPr>
          <a:xfrm>
            <a:off x="4972050" y="3562350"/>
            <a:ext cx="666750" cy="285750"/>
          </a:xfrm>
          <a:prstGeom prst="rightArrow">
            <a:avLst/>
          </a:prstGeom>
          <a:solidFill>
            <a:srgbClr val="D5E2EF"/>
          </a:solidFill>
          <a:ln w="9525">
            <a:solidFill>
              <a:srgbClr val="D5E2EF"/>
            </a:solidFill>
            <a:prstDash val="solid"/>
          </a:ln>
        </p:spPr>
      </p:sp>
      <p:sp>
        <p:nvSpPr>
          <p:cNvPr id="32" name="椭圆 31"/>
          <p:cNvSpPr>
            <a:spLocks noGrp="1"/>
          </p:cNvSpPr>
          <p:nvPr/>
        </p:nvSpPr>
        <p:spPr>
          <a:xfrm>
            <a:off x="6629400" y="3543300"/>
            <a:ext cx="323850" cy="323850"/>
          </a:xfrm>
          <a:prstGeom prst="ellipse">
            <a:avLst/>
          </a:prstGeom>
          <a:solidFill>
            <a:srgbClr val="20B486"/>
          </a:solidFill>
          <a:ln w="9525">
            <a:solidFill>
              <a:srgbClr val="20B486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629400" y="3590925"/>
            <a:ext cx="3238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350" b="1">
                <a:solidFill>
                  <a:srgbClr val="FFFFFF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3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038850" y="4019550"/>
            <a:ext cx="15049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匹配 SOP 建议</a:t>
            </a:r>
          </a:p>
        </p:txBody>
      </p:sp>
      <p:sp>
        <p:nvSpPr>
          <p:cNvPr id="35" name="右箭头 34"/>
          <p:cNvSpPr>
            <a:spLocks noGrp="1"/>
          </p:cNvSpPr>
          <p:nvPr/>
        </p:nvSpPr>
        <p:spPr>
          <a:xfrm>
            <a:off x="7353300" y="3562350"/>
            <a:ext cx="666750" cy="285750"/>
          </a:xfrm>
          <a:prstGeom prst="rightArrow">
            <a:avLst/>
          </a:prstGeom>
          <a:solidFill>
            <a:srgbClr val="D5E2EF"/>
          </a:solidFill>
          <a:ln w="9525">
            <a:solidFill>
              <a:srgbClr val="D5E2EF"/>
            </a:solidFill>
            <a:prstDash val="solid"/>
          </a:ln>
        </p:spPr>
      </p:sp>
      <p:sp>
        <p:nvSpPr>
          <p:cNvPr id="36" name="椭圆 35"/>
          <p:cNvSpPr>
            <a:spLocks noGrp="1"/>
          </p:cNvSpPr>
          <p:nvPr/>
        </p:nvSpPr>
        <p:spPr>
          <a:xfrm>
            <a:off x="9010650" y="3543300"/>
            <a:ext cx="323850" cy="323850"/>
          </a:xfrm>
          <a:prstGeom prst="ellipse">
            <a:avLst/>
          </a:prstGeom>
          <a:solidFill>
            <a:srgbClr val="EF4D5A"/>
          </a:solidFill>
          <a:ln w="9525">
            <a:solidFill>
              <a:srgbClr val="EF4D5A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010650" y="3590925"/>
            <a:ext cx="3238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350" b="1">
                <a:solidFill>
                  <a:srgbClr val="FFFFFF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4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420100" y="4019550"/>
            <a:ext cx="15049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生成行动清单</a:t>
            </a: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2362200" y="4762500"/>
            <a:ext cx="7467600" cy="552450"/>
          </a:xfrm>
          <a:prstGeom prst="roundRect">
            <a:avLst>
              <a:gd name="adj" fmla="val 27586"/>
            </a:avLst>
          </a:prstGeom>
          <a:solidFill>
            <a:srgbClr val="0B1B33"/>
          </a:solidFill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2724150" y="4933950"/>
            <a:ext cx="67627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最终输出不是“可能有问题”，而是“先做什么、谁来做、何时复盘”。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14350" y="6324600"/>
            <a:ext cx="4095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A8A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点之出众 · 餐饮代运营 AI 智能助手</a:t>
            </a: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14350" y="6153150"/>
            <a:ext cx="11163300" cy="9525"/>
          </a:xfrm>
          <a:prstGeom prst="rect">
            <a:avLst/>
          </a:prstGeom>
          <a:solidFill>
            <a:srgbClr val="E2EAF2"/>
          </a:solidFill>
          <a:ln w="9525">
            <a:solidFill>
              <a:srgbClr val="E2EAF2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1239500" y="6305550"/>
            <a:ext cx="4381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275" b="1">
                <a:solidFill>
                  <a:srgbClr val="246BFE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D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46BFE"/>
          </a:solidFill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906000" y="0"/>
            <a:ext cx="2286000" cy="95250"/>
          </a:xfrm>
          <a:prstGeom prst="rect">
            <a:avLst/>
          </a:prstGeom>
          <a:solidFill>
            <a:srgbClr val="20B486"/>
          </a:solidFill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400050"/>
            <a:ext cx="4953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246B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交互体验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66750"/>
            <a:ext cx="7429500" cy="590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飞书不是外壳，而是运营团队的统一工作入口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76300" y="1676400"/>
            <a:ext cx="2857500" cy="3143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7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1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1200150" y="2000250"/>
            <a:ext cx="13525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246B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私聊机器人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400300"/>
            <a:ext cx="20383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查数据 · 问 SOP · 生成周报 · 执行确认</a:t>
            </a: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200150" y="3219450"/>
            <a:ext cx="2095500" cy="552450"/>
          </a:xfrm>
          <a:prstGeom prst="roundRect">
            <a:avLst>
              <a:gd name="adj" fmla="val 27586"/>
            </a:avLst>
          </a:prstGeom>
          <a:solidFill>
            <a:srgbClr val="EEF5FF"/>
          </a:solidFill>
          <a:ln w="9525">
            <a:solidFill>
              <a:srgbClr val="BFD7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428750" y="3390900"/>
            <a:ext cx="16192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“本月营业额排名？”</a:t>
            </a: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200150" y="3962400"/>
            <a:ext cx="2095500" cy="552450"/>
          </a:xfrm>
          <a:prstGeom prst="roundRect">
            <a:avLst>
              <a:gd name="adj" fmla="val 27586"/>
            </a:avLst>
          </a:prstGeom>
          <a:solidFill>
            <a:srgbClr val="F0FBF7"/>
          </a:solidFill>
          <a:ln w="9525">
            <a:solidFill>
              <a:srgbClr val="BFEFD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428750" y="4133850"/>
            <a:ext cx="16192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20B4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AI 返回榜单和趋势</a:t>
            </a: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667250" y="1676400"/>
            <a:ext cx="2857500" cy="3143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7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1">
            <a:srgbClr val="FFFFFF"/>
          </a:effectRef>
          <a:fontRef idx="major"/>
        </p:style>
      </p:sp>
      <p:sp>
        <p:nvSpPr>
          <p:cNvPr id="15" name="矩形 14"/>
          <p:cNvSpPr>
            <a:spLocks noGrp="1"/>
          </p:cNvSpPr>
          <p:nvPr/>
        </p:nvSpPr>
        <p:spPr>
          <a:xfrm>
            <a:off x="4991100" y="2000250"/>
            <a:ext cx="13525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20B4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群聊协作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991100" y="2400300"/>
            <a:ext cx="20383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每日概览 · 全局预警 · 团队协同 · 负责人分发</a:t>
            </a: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5143500" y="3257550"/>
            <a:ext cx="133350" cy="133350"/>
          </a:xfrm>
          <a:prstGeom prst="ellipse">
            <a:avLst/>
          </a:prstGeom>
          <a:solidFill>
            <a:srgbClr val="246BFE"/>
          </a:solidFill>
          <a:ln w="9525">
            <a:solidFill>
              <a:srgbClr val="246BFE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391150" y="3181350"/>
            <a:ext cx="666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A8A9C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09:00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96000" y="3181350"/>
            <a:ext cx="990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全局概览</a:t>
            </a: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5143500" y="3714750"/>
            <a:ext cx="133350" cy="133350"/>
          </a:xfrm>
          <a:prstGeom prst="ellipse">
            <a:avLst/>
          </a:prstGeom>
          <a:solidFill>
            <a:srgbClr val="F5A524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391150" y="3638550"/>
            <a:ext cx="666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A8A9C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09:30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0" y="3638550"/>
            <a:ext cx="990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异常分发</a:t>
            </a: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5143500" y="4171950"/>
            <a:ext cx="133350" cy="133350"/>
          </a:xfrm>
          <a:prstGeom prst="ellipse">
            <a:avLst/>
          </a:prstGeom>
          <a:solidFill>
            <a:srgbClr val="EF4D5A"/>
          </a:solidFill>
          <a:ln w="9525">
            <a:solidFill>
              <a:srgbClr val="EF4D5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391150" y="4095750"/>
            <a:ext cx="666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A8A9C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14:00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096000" y="4095750"/>
            <a:ext cx="990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深度诊断</a:t>
            </a: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8458200" y="1676400"/>
            <a:ext cx="2857500" cy="3143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7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1">
            <a:srgbClr val="FFFFFF"/>
          </a:effectRef>
          <a:fontRef idx="major"/>
        </p:style>
      </p:sp>
      <p:sp>
        <p:nvSpPr>
          <p:cNvPr id="27" name="矩形 26"/>
          <p:cNvSpPr>
            <a:spLocks noGrp="1"/>
          </p:cNvSpPr>
          <p:nvPr/>
        </p:nvSpPr>
        <p:spPr>
          <a:xfrm>
            <a:off x="8782050" y="2000250"/>
            <a:ext cx="13525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5A52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消息卡片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782050" y="2400300"/>
            <a:ext cx="20383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数据看板 · 差评预警 · 操作确认 · 任务按钮</a:t>
            </a: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8782050" y="3257550"/>
            <a:ext cx="2038350" cy="742950"/>
          </a:xfrm>
          <a:prstGeom prst="roundRect">
            <a:avLst>
              <a:gd name="adj" fmla="val 20513"/>
            </a:avLst>
          </a:prstGeom>
          <a:solidFill>
            <a:srgbClr val="FFF8EA"/>
          </a:solidFill>
          <a:ln w="9525">
            <a:solidFill>
              <a:srgbClr val="FFE0AC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010650" y="3429000"/>
            <a:ext cx="838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5A52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操作确认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010650" y="3695700"/>
            <a:ext cx="1333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确认执行 / 取消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14350" y="6324600"/>
            <a:ext cx="4095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A8A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点之出众 · 餐饮代运营 AI 智能助手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14350" y="6153150"/>
            <a:ext cx="11163300" cy="9525"/>
          </a:xfrm>
          <a:prstGeom prst="rect">
            <a:avLst/>
          </a:prstGeom>
          <a:solidFill>
            <a:srgbClr val="E2EAF2"/>
          </a:solidFill>
          <a:ln w="9525">
            <a:solidFill>
              <a:srgbClr val="E2EAF2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1239500" y="6305550"/>
            <a:ext cx="4381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275" b="1">
                <a:solidFill>
                  <a:srgbClr val="246BFE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D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46BFE"/>
          </a:solidFill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906000" y="0"/>
            <a:ext cx="2286000" cy="95250"/>
          </a:xfrm>
          <a:prstGeom prst="rect">
            <a:avLst/>
          </a:prstGeom>
          <a:solidFill>
            <a:srgbClr val="20B486"/>
          </a:solidFill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400050"/>
            <a:ext cx="4953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246B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业务价值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66750"/>
            <a:ext cx="7429500" cy="590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业务价值：一套系统同时提升效率、质量与管理半径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38200" y="1638300"/>
            <a:ext cx="22669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DE7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1047750" y="1866900"/>
            <a:ext cx="18478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246BFE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80%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47750" y="2333625"/>
            <a:ext cx="1847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重复性工作替代</a:t>
            </a: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486150" y="1638300"/>
            <a:ext cx="22669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DE7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3695700" y="1866900"/>
            <a:ext cx="18478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20B486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5-10x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695700" y="2333625"/>
            <a:ext cx="1847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目标人效提升</a:t>
            </a: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134100" y="1638300"/>
            <a:ext cx="22669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DE7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6343650" y="1866900"/>
            <a:ext cx="18478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F5A524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100 店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343650" y="2333625"/>
            <a:ext cx="1847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团队管理半径</a:t>
            </a: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782050" y="1638300"/>
            <a:ext cx="22669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DE7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17" name="矩形 16"/>
          <p:cNvSpPr>
            <a:spLocks noGrp="1"/>
          </p:cNvSpPr>
          <p:nvPr/>
        </p:nvSpPr>
        <p:spPr>
          <a:xfrm>
            <a:off x="8991600" y="1866900"/>
            <a:ext cx="18478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6E56CF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低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991600" y="2333625"/>
            <a:ext cx="1847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团队迁移成本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1009650" y="3429000"/>
            <a:ext cx="2476500" cy="1369695"/>
          </a:xfrm>
          <a:prstGeom prst="roundRect">
            <a:avLst>
              <a:gd name="adj" fmla="val 14063"/>
            </a:avLst>
          </a:prstGeom>
          <a:solidFill>
            <a:srgbClr val="EEF5FF"/>
          </a:solidFill>
          <a:ln w="9525">
            <a:solidFill>
              <a:srgbClr val="BFD7F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489075" y="3733800"/>
            <a:ext cx="1143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246B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效率提升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352550" y="4133850"/>
            <a:ext cx="16002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日报、问数、预警、周报自动化，减少手工整理。</a:t>
            </a: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3790950" y="3429000"/>
            <a:ext cx="2476500" cy="1369060"/>
          </a:xfrm>
          <a:prstGeom prst="roundRect">
            <a:avLst>
              <a:gd name="adj" fmla="val 14063"/>
            </a:avLst>
          </a:prstGeom>
          <a:solidFill>
            <a:srgbClr val="F0FBF7"/>
          </a:solidFill>
          <a:ln w="9525">
            <a:solidFill>
              <a:srgbClr val="BFEFDE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133850" y="3771900"/>
            <a:ext cx="1143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20B48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质量稳定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133850" y="4133850"/>
            <a:ext cx="16002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异常规则、SOP 与确认机制让运营动作更标准。</a:t>
            </a: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6572250" y="3429000"/>
            <a:ext cx="2476500" cy="1369060"/>
          </a:xfrm>
          <a:prstGeom prst="roundRect">
            <a:avLst>
              <a:gd name="adj" fmla="val 14063"/>
            </a:avLst>
          </a:prstGeom>
          <a:solidFill>
            <a:srgbClr val="FFF8EA"/>
          </a:solidFill>
          <a:ln w="9525">
            <a:solidFill>
              <a:srgbClr val="FFE0AC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915150" y="3771900"/>
            <a:ext cx="1143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F5A52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经验沉淀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915150" y="4133850"/>
            <a:ext cx="16002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SOP、话术、诊断方法进入知识库，越用越懂业务。</a:t>
            </a: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9353550" y="3429000"/>
            <a:ext cx="1714500" cy="1369060"/>
          </a:xfrm>
          <a:prstGeom prst="roundRect">
            <a:avLst>
              <a:gd name="adj" fmla="val 14063"/>
            </a:avLst>
          </a:prstGeom>
          <a:solidFill>
            <a:srgbClr val="F3F0FF"/>
          </a:solidFill>
          <a:ln w="9525">
            <a:solidFill>
              <a:srgbClr val="D7CDFD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658350" y="3771900"/>
            <a:ext cx="1143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6E56C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管理放大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658350" y="4133850"/>
            <a:ext cx="9906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管理层可看全局、追异常、做审批。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14350" y="6324600"/>
            <a:ext cx="4095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A8A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点之出众 · 餐饮代运营 AI 智能助手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14350" y="6153150"/>
            <a:ext cx="11163300" cy="9525"/>
          </a:xfrm>
          <a:prstGeom prst="rect">
            <a:avLst/>
          </a:prstGeom>
          <a:solidFill>
            <a:srgbClr val="E2EAF2"/>
          </a:solidFill>
          <a:ln w="9525">
            <a:solidFill>
              <a:srgbClr val="E2EAF2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1239500" y="6305550"/>
            <a:ext cx="4381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275" b="1">
                <a:solidFill>
                  <a:srgbClr val="246BFE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D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46BFE"/>
          </a:solidFill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906000" y="0"/>
            <a:ext cx="2286000" cy="95250"/>
          </a:xfrm>
          <a:prstGeom prst="rect">
            <a:avLst/>
          </a:prstGeom>
          <a:solidFill>
            <a:srgbClr val="20B486"/>
          </a:solidFill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400050"/>
            <a:ext cx="4953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246B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竞争差异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66750"/>
            <a:ext cx="7429500" cy="590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与通用 AI、RPA 的差异：从“能聊/能搬”到“懂运营并能闭环”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1619250"/>
            <a:ext cx="1333500" cy="438150"/>
          </a:xfrm>
          <a:prstGeom prst="rect">
            <a:avLst/>
          </a:prstGeom>
          <a:solidFill>
            <a:srgbClr val="0D2138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71550" y="1704975"/>
            <a:ext cx="11430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维度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209800" y="1619250"/>
            <a:ext cx="2286000" cy="438150"/>
          </a:xfrm>
          <a:prstGeom prst="rect">
            <a:avLst/>
          </a:prstGeom>
          <a:solidFill>
            <a:srgbClr val="EAF1F8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305050" y="1704975"/>
            <a:ext cx="20955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通用 AI 助手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495800" y="1619250"/>
            <a:ext cx="2286000" cy="438150"/>
          </a:xfrm>
          <a:prstGeom prst="rect">
            <a:avLst/>
          </a:prstGeom>
          <a:solidFill>
            <a:srgbClr val="EAF1F8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591050" y="1704975"/>
            <a:ext cx="20955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RPA 工具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781800" y="1619250"/>
            <a:ext cx="4095750" cy="438150"/>
          </a:xfrm>
          <a:prstGeom prst="rect">
            <a:avLst/>
          </a:prstGeom>
          <a:solidFill>
            <a:srgbClr val="EEF5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877050" y="1704975"/>
            <a:ext cx="390525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246B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点之出众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76300" y="2114550"/>
            <a:ext cx="1333500" cy="438150"/>
          </a:xfrm>
          <a:prstGeom prst="rect">
            <a:avLst/>
          </a:prstGeom>
          <a:solidFill>
            <a:srgbClr val="F8FAFD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71550" y="2200275"/>
            <a:ext cx="11430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定位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209800" y="2114550"/>
            <a:ext cx="22860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305050" y="2200275"/>
            <a:ext cx="20955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通用对话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495800" y="2114550"/>
            <a:ext cx="22860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591050" y="2200275"/>
            <a:ext cx="20955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流程自动化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781800" y="2114550"/>
            <a:ext cx="4095750" cy="438150"/>
          </a:xfrm>
          <a:prstGeom prst="rect">
            <a:avLst/>
          </a:prstGeom>
          <a:solidFill>
            <a:srgbClr val="F8FB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877050" y="2200275"/>
            <a:ext cx="390525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餐饮代运营 AI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76300" y="2609850"/>
            <a:ext cx="1333500" cy="438150"/>
          </a:xfrm>
          <a:prstGeom prst="rect">
            <a:avLst/>
          </a:prstGeom>
          <a:solidFill>
            <a:srgbClr val="F8FAFD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71550" y="2695575"/>
            <a:ext cx="11430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数据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209800" y="2609850"/>
            <a:ext cx="22860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2305050" y="2695575"/>
            <a:ext cx="20955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无法采集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495800" y="2609850"/>
            <a:ext cx="22860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591050" y="2695575"/>
            <a:ext cx="20955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只能采集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781800" y="2609850"/>
            <a:ext cx="4095750" cy="438150"/>
          </a:xfrm>
          <a:prstGeom prst="rect">
            <a:avLst/>
          </a:prstGeom>
          <a:solidFill>
            <a:srgbClr val="F8FB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877050" y="2695575"/>
            <a:ext cx="390525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采集 + 存储 + 分析 + 可视化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76300" y="3105150"/>
            <a:ext cx="1333500" cy="438150"/>
          </a:xfrm>
          <a:prstGeom prst="rect">
            <a:avLst/>
          </a:prstGeom>
          <a:solidFill>
            <a:srgbClr val="F8FAFD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71550" y="3190875"/>
            <a:ext cx="11430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决策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209800" y="3105150"/>
            <a:ext cx="22860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2305050" y="3190875"/>
            <a:ext cx="20955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不能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4495800" y="3105150"/>
            <a:ext cx="22860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4591050" y="3190875"/>
            <a:ext cx="20955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不能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781800" y="3105150"/>
            <a:ext cx="4095750" cy="438150"/>
          </a:xfrm>
          <a:prstGeom prst="rect">
            <a:avLst/>
          </a:prstGeom>
          <a:solidFill>
            <a:srgbClr val="F8FB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877050" y="3190875"/>
            <a:ext cx="390525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诊断原因，给出建议</a:t>
            </a: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76300" y="3600450"/>
            <a:ext cx="1333500" cy="438150"/>
          </a:xfrm>
          <a:prstGeom prst="rect">
            <a:avLst/>
          </a:prstGeom>
          <a:solidFill>
            <a:srgbClr val="F8FAFD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971550" y="3686175"/>
            <a:ext cx="11430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执行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2209800" y="3600450"/>
            <a:ext cx="22860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2305050" y="3686175"/>
            <a:ext cx="20955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不能</a:t>
            </a: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4495800" y="3600450"/>
            <a:ext cx="22860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4591050" y="3686175"/>
            <a:ext cx="20955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能但无智能</a:t>
            </a: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781800" y="3600450"/>
            <a:ext cx="4095750" cy="438150"/>
          </a:xfrm>
          <a:prstGeom prst="rect">
            <a:avLst/>
          </a:prstGeom>
          <a:solidFill>
            <a:srgbClr val="F8FB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877050" y="3686175"/>
            <a:ext cx="390525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智能执行 + 人工确认</a:t>
            </a: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76300" y="4095750"/>
            <a:ext cx="1333500" cy="438150"/>
          </a:xfrm>
          <a:prstGeom prst="rect">
            <a:avLst/>
          </a:prstGeom>
          <a:solidFill>
            <a:srgbClr val="F8FAFD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971550" y="4181475"/>
            <a:ext cx="11430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学习</a:t>
            </a: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2209800" y="4095750"/>
            <a:ext cx="22860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2305050" y="4181475"/>
            <a:ext cx="20955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不沉淀</a:t>
            </a: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4495800" y="4095750"/>
            <a:ext cx="22860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4591050" y="4181475"/>
            <a:ext cx="20955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不沉淀</a:t>
            </a: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6781800" y="4095750"/>
            <a:ext cx="4095750" cy="438150"/>
          </a:xfrm>
          <a:prstGeom prst="rect">
            <a:avLst/>
          </a:prstGeom>
          <a:solidFill>
            <a:srgbClr val="F8FB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6877050" y="4181475"/>
            <a:ext cx="390525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知识库 + 记忆沉淀</a:t>
            </a: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876300" y="4591050"/>
            <a:ext cx="1333500" cy="438150"/>
          </a:xfrm>
          <a:prstGeom prst="rect">
            <a:avLst/>
          </a:prstGeom>
          <a:solidFill>
            <a:srgbClr val="F8FAFD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971550" y="4676775"/>
            <a:ext cx="11430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入口</a:t>
            </a: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2209800" y="4591050"/>
            <a:ext cx="22860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2305050" y="4676775"/>
            <a:ext cx="20955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独立 App</a:t>
            </a: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4495800" y="4591050"/>
            <a:ext cx="22860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4591050" y="4676775"/>
            <a:ext cx="20955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0">
                <a:solidFill>
                  <a:srgbClr val="52657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独立软件</a:t>
            </a: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6781800" y="4591050"/>
            <a:ext cx="4095750" cy="438150"/>
          </a:xfrm>
          <a:prstGeom prst="rect">
            <a:avLst/>
          </a:prstGeom>
          <a:solidFill>
            <a:srgbClr val="F8FB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6877050" y="4676775"/>
            <a:ext cx="390525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飞书，团队已有工具</a:t>
            </a:r>
          </a:p>
        </p:txBody>
      </p:sp>
      <p:sp>
        <p:nvSpPr>
          <p:cNvPr id="63" name="圆角矩形 62"/>
          <p:cNvSpPr>
            <a:spLocks noGrp="1"/>
          </p:cNvSpPr>
          <p:nvPr/>
        </p:nvSpPr>
        <p:spPr>
          <a:xfrm>
            <a:off x="1676400" y="5257800"/>
            <a:ext cx="8839200" cy="514350"/>
          </a:xfrm>
          <a:prstGeom prst="roundRect">
            <a:avLst>
              <a:gd name="adj" fmla="val 25926"/>
            </a:avLst>
          </a:prstGeom>
          <a:solidFill>
            <a:srgbClr val="0B1B33"/>
          </a:solidFill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2000250" y="5410200"/>
            <a:ext cx="81915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核心竞争力：懂餐饮运营的 Agent，能采集、能分析、能预警、能执行、能学习。</a:t>
            </a: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514350" y="6324600"/>
            <a:ext cx="4095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A8A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点之出众 · 餐饮代运营 AI 智能助手</a:t>
            </a: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514350" y="6153150"/>
            <a:ext cx="11163300" cy="9525"/>
          </a:xfrm>
          <a:prstGeom prst="rect">
            <a:avLst/>
          </a:prstGeom>
          <a:solidFill>
            <a:srgbClr val="E2EAF2"/>
          </a:solidFill>
          <a:ln w="9525">
            <a:solidFill>
              <a:srgbClr val="E2EAF2"/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11239500" y="6305550"/>
            <a:ext cx="4381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275" b="1">
                <a:solidFill>
                  <a:srgbClr val="246BFE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138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0B486"/>
          </a:solidFill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42950" y="628650"/>
            <a:ext cx="24765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点之出众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1790700"/>
            <a:ext cx="80010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飞书入口 + AI Agent + 餐饮运营知识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667000"/>
            <a:ext cx="74295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C8D8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让运营团队从重复执行中释放出来，把更多时间放在判断、策略和增长动作上。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00100" y="3714750"/>
            <a:ext cx="2667000" cy="1200150"/>
          </a:xfrm>
          <a:prstGeom prst="roundRect">
            <a:avLst>
              <a:gd name="adj" fmla="val 1428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04900" y="4038600"/>
            <a:ext cx="12382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C8F7E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统一入口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04900" y="4419600"/>
            <a:ext cx="16192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C8D8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团队仍在飞书工作</a:t>
            </a: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848100" y="3714750"/>
            <a:ext cx="2667000" cy="1200150"/>
          </a:xfrm>
          <a:prstGeom prst="roundRect">
            <a:avLst>
              <a:gd name="adj" fmla="val 1428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152900" y="4038600"/>
            <a:ext cx="12382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BFD7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智能执行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152900" y="4419600"/>
            <a:ext cx="1809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C8D8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80% 重复工作交给 AI</a:t>
            </a: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896100" y="3714750"/>
            <a:ext cx="2667000" cy="1200150"/>
          </a:xfrm>
          <a:prstGeom prst="roundRect">
            <a:avLst>
              <a:gd name="adj" fmla="val 1428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200900" y="4038600"/>
            <a:ext cx="12382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FFE0A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懂行决策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200900" y="4419600"/>
            <a:ext cx="1809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C8D8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SOP 和数据共同驱动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1050" y="5676900"/>
            <a:ext cx="7810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目标：让 10 人团队管好 100 家门店，人效提升 5-10 倍。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239500" y="6191250"/>
            <a:ext cx="4381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275" b="1">
                <a:solidFill>
                  <a:srgbClr val="9DB0C4"/>
                </a:solidFill>
                <a:latin typeface="DIN Alternate" panose="020B0500000000000000"/>
                <a:ea typeface="DIN Alternate" panose="020B0500000000000000"/>
                <a:cs typeface="DIN Alternate" panose="020B0500000000000000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09550" dist="95250" dir="5400000">
              <a:srgbClr val="102033">
                <a:alpha val="8000"/>
              </a:srgbClr>
            </a:outerShdw>
          </a:effectLst>
        </a:effectStyle>
        <a:effectStyle>
          <a:effectLst>
            <a:outerShdw blurRad="228600" dist="95250" dir="5400000">
              <a:srgbClr val="102033">
                <a:alpha val="8000"/>
              </a:srgbClr>
            </a:outerShdw>
          </a:effectLst>
        </a:effectStyle>
        <a:effectStyle>
          <a:effectLst>
            <a:outerShdw blurRad="228600" dist="95250" dir="5400000">
              <a:srgbClr val="102033">
                <a:alpha val="7000"/>
              </a:srgbClr>
            </a:outerShdw>
          </a:effectLst>
        </a:effectStyle>
        <a:effectStyle>
          <a:effectLst>
            <a:outerShdw blurRad="209550" dist="76200" dir="5400000">
              <a:srgbClr val="102033">
                <a:alpha val="6000"/>
              </a:srgbClr>
            </a:outerShdw>
          </a:effectLst>
        </a:effectStyle>
        <a:effectStyle>
          <a:effectLst>
            <a:outerShdw blurRad="171450" dist="57150" dir="5400000">
              <a:srgbClr val="102033">
                <a:alpha val="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09550" dist="95250" dir="5400000">
              <a:srgbClr val="102033">
                <a:alpha val="8000"/>
              </a:srgbClr>
            </a:outerShdw>
          </a:effectLst>
        </a:effectStyle>
        <a:effectStyle>
          <a:effectLst>
            <a:outerShdw blurRad="228600" dist="95250" dir="5400000">
              <a:srgbClr val="102033">
                <a:alpha val="8000"/>
              </a:srgbClr>
            </a:outerShdw>
          </a:effectLst>
        </a:effectStyle>
        <a:effectStyle>
          <a:effectLst>
            <a:outerShdw blurRad="228600" dist="95250" dir="5400000">
              <a:srgbClr val="102033">
                <a:alpha val="7000"/>
              </a:srgbClr>
            </a:outerShdw>
          </a:effectLst>
        </a:effectStyle>
        <a:effectStyle>
          <a:effectLst>
            <a:outerShdw blurRad="209550" dist="76200" dir="5400000">
              <a:srgbClr val="102033">
                <a:alpha val="6000"/>
              </a:srgbClr>
            </a:outerShdw>
          </a:effectLst>
        </a:effectStyle>
        <a:effectStyle>
          <a:effectLst>
            <a:outerShdw blurRad="171450" dist="57150" dir="5400000">
              <a:srgbClr val="102033">
                <a:alpha val="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2834</Words>
  <Application>WPS 表格</Application>
  <PresentationFormat>Converted Presentation</PresentationFormat>
  <Paragraphs>566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宋体</vt:lpstr>
      <vt:lpstr>Wingdings</vt:lpstr>
      <vt:lpstr>PingFang SC</vt:lpstr>
      <vt:lpstr>DIN Alternate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DIN Alternate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dzcz</cp:lastModifiedBy>
  <cp:revision>1</cp:revision>
  <dcterms:created xsi:type="dcterms:W3CDTF">2026-06-10T03:46:04Z</dcterms:created>
  <dcterms:modified xsi:type="dcterms:W3CDTF">2026-06-10T03:46:04Z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B2CB3D3F5B81258BFCDD286A624CA6FA_42</vt:lpwstr>
  </property>
</Properties>
</file>