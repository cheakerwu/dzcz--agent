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84c31af15f4a74" /><Relationship Type="http://schemas.openxmlformats.org/officeDocument/2006/relationships/extended-properties" Target="/docProps/app.xml" Id="Rb75b74b40ed64633" /><Relationship Type="http://schemas.openxmlformats.org/officeDocument/2006/relationships/officeDocument" Target="/ppt/presentation.xml" Id="R24d8a133b87642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8fa47648a64c9f"/>
  </p:sldMasterIdLst>
  <p:notesMasterIdLst>
    <p:notesMasterId xmlns:r="http://schemas.openxmlformats.org/officeDocument/2006/relationships" r:id="R0a97d0911c174bee"/>
  </p:notesMasterIdLst>
  <p:sldIdLst>
    <p:sldId xmlns:r="http://schemas.openxmlformats.org/officeDocument/2006/relationships" id="256" r:id="R994ad3ef720f4fa8"/>
    <p:sldId xmlns:r="http://schemas.openxmlformats.org/officeDocument/2006/relationships" id="257" r:id="R1cffb4e0285243e0"/>
    <p:sldId xmlns:r="http://schemas.openxmlformats.org/officeDocument/2006/relationships" id="258" r:id="R1ebfacadea244c98"/>
    <p:sldId xmlns:r="http://schemas.openxmlformats.org/officeDocument/2006/relationships" id="259" r:id="R4ff3956eaa7149b7"/>
    <p:sldId xmlns:r="http://schemas.openxmlformats.org/officeDocument/2006/relationships" id="260" r:id="R8e5679f76ecf42dd"/>
    <p:sldId xmlns:r="http://schemas.openxmlformats.org/officeDocument/2006/relationships" id="261" r:id="Raa5c9470912f4f46"/>
    <p:sldId xmlns:r="http://schemas.openxmlformats.org/officeDocument/2006/relationships" id="262" r:id="R487883fb89fe4a31"/>
    <p:sldId xmlns:r="http://schemas.openxmlformats.org/officeDocument/2006/relationships" id="263" r:id="R6b11546e200f4e09"/>
    <p:sldId xmlns:r="http://schemas.openxmlformats.org/officeDocument/2006/relationships" id="264" r:id="R5b67f76166dc4687"/>
    <p:sldId xmlns:r="http://schemas.openxmlformats.org/officeDocument/2006/relationships" id="265" r:id="R7704fa7f13444e07"/>
    <p:sldId xmlns:r="http://schemas.openxmlformats.org/officeDocument/2006/relationships" id="266" r:id="R0e879947f1c343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d5c72cbd441d2" /><Relationship Type="http://schemas.openxmlformats.org/officeDocument/2006/relationships/slideMaster" Target="/ppt/slideMasters/slideMaster1.xml" Id="R648fa47648a64c9f" /><Relationship Type="http://schemas.openxmlformats.org/officeDocument/2006/relationships/notesMaster" Target="/ppt/notesMasters/notesMaster1.xml" Id="R0a97d0911c174bee" /><Relationship Type="http://schemas.openxmlformats.org/officeDocument/2006/relationships/presProps" Target="/ppt/presProps.xml" Id="R466175f05f2f4541" /><Relationship Type="http://schemas.openxmlformats.org/officeDocument/2006/relationships/viewProps" Target="/ppt/viewProps.xml" Id="R8da7566a44934e37" /><Relationship Type="http://schemas.openxmlformats.org/officeDocument/2006/relationships/tableStyles" Target="/ppt/tableStyles.xml" Id="R0f9cdbd61a26483b" /><Relationship Type="http://schemas.openxmlformats.org/officeDocument/2006/relationships/slide" Target="/ppt/slides/slide1.xml" Id="R994ad3ef720f4fa8" /><Relationship Type="http://schemas.openxmlformats.org/officeDocument/2006/relationships/slide" Target="/ppt/slides/slide2.xml" Id="R1cffb4e0285243e0" /><Relationship Type="http://schemas.openxmlformats.org/officeDocument/2006/relationships/slide" Target="/ppt/slides/slide3.xml" Id="R1ebfacadea244c98" /><Relationship Type="http://schemas.openxmlformats.org/officeDocument/2006/relationships/slide" Target="/ppt/slides/slide4.xml" Id="R4ff3956eaa7149b7" /><Relationship Type="http://schemas.openxmlformats.org/officeDocument/2006/relationships/slide" Target="/ppt/slides/slide5.xml" Id="R8e5679f76ecf42dd" /><Relationship Type="http://schemas.openxmlformats.org/officeDocument/2006/relationships/slide" Target="/ppt/slides/slide6.xml" Id="Raa5c9470912f4f46" /><Relationship Type="http://schemas.openxmlformats.org/officeDocument/2006/relationships/slide" Target="/ppt/slides/slide7.xml" Id="R487883fb89fe4a31" /><Relationship Type="http://schemas.openxmlformats.org/officeDocument/2006/relationships/slide" Target="/ppt/slides/slide8.xml" Id="R6b11546e200f4e09" /><Relationship Type="http://schemas.openxmlformats.org/officeDocument/2006/relationships/slide" Target="/ppt/slides/slide9.xml" Id="R5b67f76166dc4687" /><Relationship Type="http://schemas.openxmlformats.org/officeDocument/2006/relationships/slide" Target="/ppt/slides/slide10.xml" Id="R7704fa7f13444e07" /><Relationship Type="http://schemas.openxmlformats.org/officeDocument/2006/relationships/slide" Target="/ppt/slides/slide11.xml" Id="R0e879947f1c343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cec1d7e88540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5b397100944f67" /><Relationship Type="http://schemas.openxmlformats.org/officeDocument/2006/relationships/notesMaster" Target="/ppt/notesMasters/notesMaster1.xml" Id="R7e5e6b833e8b49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85400c9184c09" /><Relationship Type="http://schemas.openxmlformats.org/officeDocument/2006/relationships/notesMaster" Target="/ppt/notesMasters/notesMaster1.xml" Id="R626e1e51edcc4b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3bd2cf96de44e1" /><Relationship Type="http://schemas.openxmlformats.org/officeDocument/2006/relationships/notesMaster" Target="/ppt/notesMasters/notesMaster1.xml" Id="R0f4e317125994d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20d27ee9434b99" /><Relationship Type="http://schemas.openxmlformats.org/officeDocument/2006/relationships/notesMaster" Target="/ppt/notesMasters/notesMaster1.xml" Id="Rc80e7433418e4c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126d83a33b4a85" /><Relationship Type="http://schemas.openxmlformats.org/officeDocument/2006/relationships/notesMaster" Target="/ppt/notesMasters/notesMaster1.xml" Id="R2fe2defcb39448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171e720baa4dce" /><Relationship Type="http://schemas.openxmlformats.org/officeDocument/2006/relationships/notesMaster" Target="/ppt/notesMasters/notesMaster1.xml" Id="Rc7af19c6166845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8f90c070524f8f" /><Relationship Type="http://schemas.openxmlformats.org/officeDocument/2006/relationships/notesMaster" Target="/ppt/notesMasters/notesMaster1.xml" Id="Rca097b7bcd1e4e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cfaff3e8404aba" /><Relationship Type="http://schemas.openxmlformats.org/officeDocument/2006/relationships/notesMaster" Target="/ppt/notesMasters/notesMaster1.xml" Id="R2d2e50c3a93a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7cc38488ab4f8d" /><Relationship Type="http://schemas.openxmlformats.org/officeDocument/2006/relationships/notesMaster" Target="/ppt/notesMasters/notesMaster1.xml" Id="R0b601a59c1be43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4d7032cbc547ac" /><Relationship Type="http://schemas.openxmlformats.org/officeDocument/2006/relationships/notesMaster" Target="/ppt/notesMasters/notesMaster1.xml" Id="R711feeb617af4d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48c14695134cb4" /><Relationship Type="http://schemas.openxmlformats.org/officeDocument/2006/relationships/notesMaster" Target="/ppt/notesMasters/notesMaster1.xml" Id="Rfc428a7986dd49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9dff1dc7744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f8926523a84cc5" /><Relationship Type="http://schemas.openxmlformats.org/officeDocument/2006/relationships/slideLayout" Target="/ppt/slideLayouts/slideLayout1.xml" Id="R3f386b359b9545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386b359b9545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e080fc8c14bc3" /><Relationship Type="http://schemas.openxmlformats.org/officeDocument/2006/relationships/image" Target="/ppt/media/image.png" Id="R2952929406d64117" /><Relationship Type="http://schemas.openxmlformats.org/officeDocument/2006/relationships/notesSlide" Target="/ppt/notesSlides/notesSlide1.xml" Id="Rc6fa728a99ba4d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c91d2f1b94d3f" /><Relationship Type="http://schemas.openxmlformats.org/officeDocument/2006/relationships/notesSlide" Target="/ppt/notesSlides/notesSlide2.xml" Id="R9d6d771037e648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8427b30754364" /><Relationship Type="http://schemas.openxmlformats.org/officeDocument/2006/relationships/notesSlide" Target="/ppt/notesSlides/notesSlide3.xml" Id="R597ccce6d7e2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a71f03fb048a1" /><Relationship Type="http://schemas.openxmlformats.org/officeDocument/2006/relationships/notesSlide" Target="/ppt/notesSlides/notesSlide4.xml" Id="R608e754dc67d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7291e18154da6" /><Relationship Type="http://schemas.openxmlformats.org/officeDocument/2006/relationships/notesSlide" Target="/ppt/notesSlides/notesSlide5.xml" Id="R15410e46249445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2d972d21841a0" /><Relationship Type="http://schemas.openxmlformats.org/officeDocument/2006/relationships/notesSlide" Target="/ppt/notesSlides/notesSlide6.xml" Id="Rf5cee75a9d0748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7f65311e34f13" /><Relationship Type="http://schemas.openxmlformats.org/officeDocument/2006/relationships/notesSlide" Target="/ppt/notesSlides/notesSlide7.xml" Id="R71385d36d57647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d5b84c40c4fa8" /><Relationship Type="http://schemas.openxmlformats.org/officeDocument/2006/relationships/notesSlide" Target="/ppt/notesSlides/notesSlide8.xml" Id="Rc86486a1814448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ec6c07d2b4c22" /><Relationship Type="http://schemas.openxmlformats.org/officeDocument/2006/relationships/notesSlide" Target="/ppt/notesSlides/notesSlide9.xml" Id="R5dbdb8a3cefa4e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621939c1946ca" /><Relationship Type="http://schemas.openxmlformats.org/officeDocument/2006/relationships/notesSlide" Target="/ppt/notesSlides/notesSlide10.xml" Id="R8eb68030fad644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cca9697d54dae" /><Relationship Type="http://schemas.openxmlformats.org/officeDocument/2006/relationships/notesSlide" Target="/ppt/notesSlides/notesSlide11.xml" Id="Rdfb770447b4948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2929406d6411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302E6-4949-47CD-96A9-66E991FA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E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B0711-E7C6-4870-9E5C-83E0535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3C696-80A7-48EE-8331-3D55B000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点之出众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9FFBD-689F-4353-8E17-AABBAE00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餐饮代运营 AI 技术平台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29667-F14B-452F-8F2C-6BC55CC0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09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CD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A9BCD1"/>
                </a:solidFill>
                <a:latin typeface="Menlo"/>
                <a:ea typeface="Menlo"/>
                <a:cs typeface="Menlo"/>
              </a:rPr>
              <a:t>Agentic Ops OS for 100+ 外卖门店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583CF-5D00-4354-A605-652176C2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09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以飞书协作为入口，以 Agent Runtime 为执行大脑，以浏览器自动化、记忆系统与业务控制平面完成「看数、判断、执行、留痕」闭环。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8D112-B4BB-4A0E-9FAD-929BC227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6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EE77C-7C4F-4E35-84D7-0E1B4F41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FINAL-STATE BLUEPRINT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C13CE-B50D-4778-A23D-E75CC860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技术展示版 / 2026</a:t>
            </a:r>
          </a:p>
        </p:txBody>
      </p:sp>
    </p:spTree>
    <p:extLst>
      <p:ext uri="{BB962C8B-B14F-4D97-AF65-F5344CB8AC3E}">
        <p14:creationId xmlns:p14="http://schemas.microsoft.com/office/powerpoint/2010/main" val="10909988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A2965-5D6E-4D20-A9B4-8F065120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C3129-3505-4E0D-9F23-82FB2081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9DD93-EBA3-450F-9EFA-E7F456CA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1C705-0213-424F-A158-279DE15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AD56C-9B39-4FA1-9303-4483F132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PLATFORM 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38D33-8E33-480F-872F-6A38A458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最终形态：餐饮代运营的 Agentic Ops 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B7F6E-B789-4E4E-9E90-729C2A9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83CDE-8546-488C-A8CF-7548A690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46B1D-CFD7-4541-A718-0D087A50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F5880-9883-4F99-AF5B-058A0301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平台不是“聊天机器人”，而是把门店经营动作沉淀为可追踪、可审批、可复用的智能作业系统。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9871F-2433-461F-9714-67FF4044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906E0-269C-4796-A23D-B27C13C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100+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01C85-3EE0-4F02-A020-2F214E33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门店协同目标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9C634-2443-4957-A424-DEC2BEE9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52625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FF5C9-0C5C-4724-BDD9-520386B2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050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10x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59776-2F1D-4707-A2E5-87DA55CD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241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运营人效放大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44EC3-46AB-480B-9117-AD07BDA6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52625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F62CB-1AC6-4A1F-AFFF-2B156BF9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050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90FE4-669E-40F7-8545-7C5DA49A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核心业务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3F3CD-622D-455E-B245-2222A5C1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D2B9F-0398-4AD5-A051-674562A4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50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98B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A98BFF"/>
                </a:solidFill>
                <a:latin typeface="Menlo"/>
                <a:ea typeface="Menlo"/>
                <a:cs typeface="Menlo"/>
              </a:rPr>
              <a:t>24h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F38FD-9A23-4593-8BA4-2691477D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持续监控与执行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FECFE-ED93-4049-8215-7F385816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429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F33"/>
          </a:solidFill>
          <a:ln xmlns:a="http://schemas.openxmlformats.org/drawingml/2006/main" w="9525">
            <a:solidFill>
              <a:srgbClr val="2951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52D0B-EFEF-42AD-ADFA-E1769B43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D7F7B-B26A-44EE-8775-08C90B7F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USER EXPERIENCE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3F70C-5EBD-4C57-A53D-061AEFCF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64E07-170E-4D3F-8C18-8A0E51D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飞书一句话发起任务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5C8ED-B602-4B0D-AF00-583360DF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763E1D-7A76-41ED-876A-D1385D9E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日报、预警、问数自动返回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9F3042-8884-459B-A15B-859E9C65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C2205-FCD8-4FE8-B985-3D9EF6F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高风险动作走卡片审批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CEAE0A-907C-44CE-92E0-D1CB0AE3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429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F33"/>
          </a:solidFill>
          <a:ln xmlns:a="http://schemas.openxmlformats.org/drawingml/2006/main" w="9525">
            <a:solidFill>
              <a:srgbClr val="2951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15589F-7151-466E-9870-FAA30BE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EE59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A562B-BDDB-4810-A114-04DF7B8C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AGENT CORE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55116C-1B79-4A1F-AD1D-597B0108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18C2A8-1144-4DF8-874A-F0E37201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81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会话级队列与上下文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DA6947-6BC2-4F32-9D7B-21C797AB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D36DB0-DB87-4FBB-BADF-0D5CE77F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工具调用、进度、证据链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628B22-0B6E-4A8A-924F-9273024F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C37DC6-CAEA-4BFD-87ED-6C8C4E4F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291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模型路由与长任务恢复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B2348-0C54-4A51-92D9-E2B403F8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429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F33"/>
          </a:solidFill>
          <a:ln xmlns:a="http://schemas.openxmlformats.org/drawingml/2006/main" w="9525">
            <a:solidFill>
              <a:srgbClr val="2951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643758-3D5C-43EA-ADA9-20FF6747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FCA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BF683C-0B0E-4053-9407-E9C36185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CONTROL PLANE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8275C2-2D40-49A3-AC40-18DF5E70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57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F304AF-9FB2-463D-9E5D-B119BA4F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81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员工/门店/权限作用域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665662-44B6-457E-AA8A-170D3FFC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9EABB1-1C5F-4072-8A70-B20076E7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资源锁、审计、审批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D4AC42-0CAD-4E16-9530-23D30D22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4BDD2D-6B1F-4171-8587-1EE44BD0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291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知识、记忆、工单沉淀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2F7557-4DD8-45CF-9EC8-E63AF861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98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FCA648-FD21-4197-B844-71CA54A0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71650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2A27D1-24E6-4930-8E5A-CCBEEAFE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716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52E5A6-131C-4F62-A857-E07AC309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9050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技术判断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841E3C-073F-44E3-8F18-226C36A1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002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用一个可治理的 Agent 平台承接运营流程，而不是把能力散落在多个脚本、表格和聊天窗口里。</a:t>
            </a:r>
          </a:p>
        </p:txBody>
      </p:sp>
    </p:spTree>
    <p:extLst>
      <p:ext uri="{BB962C8B-B14F-4D97-AF65-F5344CB8AC3E}">
        <p14:creationId xmlns:p14="http://schemas.microsoft.com/office/powerpoint/2010/main" val="61431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1CF2C3-F056-4E7F-B2AF-79D4007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711F9-09AD-4ABF-83C1-209346D5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D627A-3833-4775-898B-81819E5D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3C78B-622D-48C7-8B19-69951BD4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0AD68-42B8-444F-9EAB-B4078DC6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CODE GRAPH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4539A-F152-4AA6-871B-437A9A17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代码图谱背书：平台核心已经具备工程骨架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B7DB0-138D-4D9E-B7B1-0A37EED7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67F3E-F361-4642-8FB6-6F5A3279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5E25B-B3E3-4C3C-9482-541DAF7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36225-441A-4CC0-AD96-5E458905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基于项目 .codegraph 遍历：不是从零想象，而是在现有 Gateway、Agent Runtime、Connector、Admin Control Plane、Tool Registry 上展示最终平台形态。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72BF0-A7C4-4F99-8974-EB3167D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AD274-89A4-472D-878E-57A35E71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239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27C34-7016-4C04-A9DE-C6B1557C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被索引文件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39C14-B0B0-4C4C-B591-050B28E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195C4-E6FC-483E-BC90-7D200A71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3,256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A876A-0707-4B72-A47D-AAAB365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代码节点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400BD-5D63-4C89-8D61-184B0C4E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4E840-AC8C-4922-96DA-32B5B6C8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621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9,222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2DE16-E5A6-40BE-BFE8-6D669728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关系边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660DB-A49D-4256-9A6C-960BCE30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5D92F-DC1A-4ED8-8A48-36D3534C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98B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A98BFF"/>
                </a:solidFill>
                <a:latin typeface="Menlo"/>
                <a:ea typeface="Menlo"/>
                <a:cs typeface="Menlo"/>
              </a:rPr>
              <a:t>4,171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AD104-A28E-4D31-A1B1-08F83ECA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调用关系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20B80-EB56-45D0-93B8-23884BC4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E31"/>
          </a:solidFill>
          <a:ln xmlns:a="http://schemas.openxmlformats.org/drawingml/2006/main" w="9525">
            <a:solidFill>
              <a:srgbClr val="294F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60801-EE5D-4F18-A833-1F0CBE6C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E799F-C53E-4BC0-91EF-8D5F8E51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HOTSPOT MODULES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AB17E-706A-474C-8FF5-90E0E81B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Gateway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C94620-22A5-47F6-9588-621FA2CD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766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src/main/gateway.ts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EA665A-4959-4741-92B2-EDF39489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766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连接 Agent、会话、连接器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BD09B7-B401-49A9-BAE9-0E0390D7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Agent 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7B19C8-996F-463F-9957-85A6C213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814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src/main/agent-runtime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4EAA4E-AFF5-48E2-9868-82A1C308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814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模型、系统提示、工具加载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911C19-F473-4535-930B-24023D70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Gateway Adapter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58EE4-7E3F-48F9-BFD0-B4B1DE19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862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src/server/gateway-adapter.ts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23FE2-C508-4725-9E41-5414C3B8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86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Web 服务模式适配层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EBDFB3-154C-4364-852A-30B8F1DD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Admin Control Plane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5B59EE-BAAD-493D-9547-1DA6E84A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910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src/main/admin-control-plane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E0D6CF-6918-46BB-8FCB-EC2A26B5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910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门店、员工、审计、记忆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8ADEFB-BC4B-48E2-A89E-E5C91542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E31"/>
          </a:solidFill>
          <a:ln xmlns:a="http://schemas.openxmlformats.org/drawingml/2006/main" w="9525">
            <a:solidFill>
              <a:srgbClr val="294F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60BE6A-EF27-42D5-87F1-057FFD4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EE59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F9D7D5-B8D4-4317-B5B7-D7895033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GRAPH SHAPE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9750C1-8B71-4101-8F9A-08DE951B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766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imports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E7E11E-0C8D-4F41-8EE7-E7693829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433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17CBC3-B81D-4797-97B5-A2AAB5E2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43350"/>
            <a:ext cx="227838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60A366-3448-449D-84D0-E78C555C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766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929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64EDE2-974A-4371-9AA7-381A9820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433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methods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295932-3649-4D03-9C14-ED694CA4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100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26CEE6-3F70-4EC0-989B-B945E3FB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10050"/>
            <a:ext cx="193167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BB6FB2-F353-4996-AA97-438539AB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433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786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7F38DF-F097-434D-97E2-0D27FC3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functions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662038-5226-4F20-8401-6B18DB73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767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50678F-CC35-4919-A4D1-6ECF5E4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76750"/>
            <a:ext cx="1485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A6B13D-F2F1-4B9B-8952-3C6A030C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100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608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1A0F15-D50C-4BE7-AC99-1FCEFB19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767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interfaces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AC875D-028A-4CF2-9FF2-786ABE0C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434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33AC16-A013-4041-9F56-9C49E456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43450"/>
            <a:ext cx="619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DFFAAB-D7CB-496B-BFDB-D6A7D4B0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767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250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3B70D8-8BFA-4868-909F-2BB1218B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434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routes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C50590-D106-4436-8B25-4804149C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101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AE9097-5555-4BDE-BCD3-5226D549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10150"/>
            <a:ext cx="22288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244D10-D95D-4C15-A09F-1CE9E624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434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88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114362-7766-40FB-8712-0B30ACB9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190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2984B9-2DFD-4FC1-BBF6-B1C1426F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DFFFFB-02FA-4B88-B099-452ED1E3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1347D6-8AF9-4CAE-9D0D-A4239B5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050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技术含义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A619FD-23BB-4A39-9B78-E200C9C4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0275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代码热点已经围绕“网关统一入口 + 运行时执行 + 连接器协作 + 管理控制平面”聚集，适合继续演进为行业级智能运营中台。</a:t>
            </a:r>
          </a:p>
        </p:txBody>
      </p:sp>
    </p:spTree>
    <p:extLst>
      <p:ext uri="{BB962C8B-B14F-4D97-AF65-F5344CB8AC3E}">
        <p14:creationId xmlns:p14="http://schemas.microsoft.com/office/powerpoint/2010/main" val="17328448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CB5B5E-F238-4874-9259-864E95FA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EF448-991E-4B4C-A263-D39A6934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1ED3B-D505-42AB-B9BB-71BCC2C9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17687-C5D3-4CFF-ACF0-A40CE20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36CA7-A4B0-453E-98DC-D8CA025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REFERENCE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CE1A6-3237-4792-8DA3-A8449839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总架构：协作入口、Agent 大脑、工具执行、业务控制平面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A1724-7E0C-4FCF-8A8A-38102E06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6288D-0EE0-45C0-B099-5DBFAFB5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22FBE-044E-4D47-A1D6-2366C54A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EB142-9600-41BB-AB86-976A98A8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最终平台以 Gateway 为总线，把多端消息、长任务执行、浏览器自动化、知识记忆和门店权限连接成一条可治理链路。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487F9-982A-46C7-A226-BD4E28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228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2143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276EA-ABA2-45B8-9E96-619C7A4E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A2511-BB86-45F6-9E17-19E02DCD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COLLABORATION SURFACE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0446E-8BC0-4EAE-AD64-3AB5BE3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5C4D4-BC92-4AC6-BE8D-AFED057D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8C579-BA4C-453E-B086-D32A6C46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飞书 / 企业微信 / 微信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0182C-E57D-4DDB-BE37-1D52DF07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群聊、私聊、卡片、文档、多维表格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B0A6D-3BCC-4B59-B85A-8855FD67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828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7E75E-9D2F-43B5-AD2F-B6B3A1DC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DE731-C0EE-4059-9072-CAA811B2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Web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E5C0B-55D8-4B1C-A0FF-942BE0AC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861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管理台、审计、任务状态、配置中心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0FC77-A27D-45EA-9BAC-722771A4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90700"/>
            <a:ext cx="2095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2143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F2747-B45D-434F-9773-386D5847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90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6EC2F-1FA6-4FF1-8BA3-66C3D9A6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050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GATEWAY BUS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2ADC7-A3A2-492C-9EC2-5814873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1638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963E2-30FC-42C3-A67B-A98B6B2A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D3A144-6FB0-49FD-B7CB-9F3CF1EF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Gateway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25BF2-FE90-4DB9-A364-039397B1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955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会话路由、连接器注册、Tab 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AFD13-D49E-4107-91CE-6C8EA8E3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57550"/>
            <a:ext cx="1638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13317F-6295-42E9-8629-99F73CC1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575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549740-BEAF-48DF-89D7-29C43C87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Message Queue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71B926-63F7-4A3A-84A9-B7F84C95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861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串行响应、流式进度、异常恢复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5A871-DF5B-470A-9D80-BAB6800E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2190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2143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9284A7-1059-4E52-BEB2-2BE9709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48B6E-C834-460F-9888-E061E89D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050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AGENT RUNTIME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3D77D0-37CB-4732-BED3-98BC8BD6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173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0A655A-C419-4BB8-98BF-450D4A75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E64086-557F-48DD-A19C-C0FC31FF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Model Router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276B7B-F3D8-484A-BCF7-39369A1F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955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OpenAI / 本地 / 快速模式 / 成本控制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FE8DC5-7636-4178-9FA6-C829EEE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57550"/>
            <a:ext cx="173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BE6E0E-E3AF-478C-9C26-D0689516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575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752AF9-E2F3-4EC1-867A-9EE8B9A0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Tool Loader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07D804-A27A-4BEF-A13E-FB75628E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861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工具注册、权限边界、上下文注入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8784EC-40A8-480B-B30E-4043DC21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21435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2FF9F4-27C3-4CA4-A8BA-C2356089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32F8F0-0DFC-498D-8C3B-B58FDD1F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8BFF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A98BFF"/>
                </a:solidFill>
                <a:latin typeface="Menlo"/>
                <a:ea typeface="Menlo"/>
                <a:cs typeface="Menlo"/>
              </a:rPr>
              <a:t>ACTION MESH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46CF5D-3C52-442D-B0F1-FCDC093B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1924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6EE201-6322-44E0-884E-ABBBEDAE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2B0009-18D4-42FF-ACA6-A597E62E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BrowserAct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8E257D-C5D0-4A68-8005-7E87979B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955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商家后台操作、截图、上传、校验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4587AC-DEE6-49C4-9FB1-E7EB4427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1924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381822-2117-46DC-A03C-7AC434B8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418248-7CEA-42C2-AFE5-D6335690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90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Docs / Sheets / APIs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2E2254-60DE-4EF1-AE88-7F75486F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861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飞书文档、多维表格、文件、外部系统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D13A37-962D-4390-9DD8-B345017B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5780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B"/>
          </a:solidFill>
          <a:ln xmlns:a="http://schemas.openxmlformats.org/drawingml/2006/main" w="9525">
            <a:solidFill>
              <a:srgbClr val="21435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6EDAED-BB9D-4BBE-8F10-B4AF867E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578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D7B96C-DDD3-461D-A5D6-A2CA0A94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72100"/>
            <a:ext cx="621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DFF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A8DFF"/>
                </a:solidFill>
                <a:latin typeface="Menlo"/>
                <a:ea typeface="Menlo"/>
                <a:cs typeface="Menlo"/>
              </a:rPr>
              <a:t>DATA &amp; GOVERNANCE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3CC971-AFDF-4996-B2BA-89872EBF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054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SQLite Operational Store  +  mem0 Vector Memory  +  Approval / Audit / Resource Lock  +  StoreScope / EmployeeScope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B084D7-7EA8-49F8-9506-041AC73C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1BDB03-A113-44BC-BD92-19FB8C9F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19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A058DF-DDE5-4F08-B620-C19B293E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53820B-55E3-4AB1-A392-2774F85C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19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E8EE88-ACD6-4132-B36F-9FBD643A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CBFEDF-4F96-40AE-A273-9BBB67F2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79821E-8CFC-4013-9F2E-81EF6CCA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19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06203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3FD852-D4E8-4DBD-B516-7FA8ECD5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E4B46-C3C2-41E8-8741-FFBBE4B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4F7F5-5EB0-4278-92F2-1D9A8995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BB6A7-AA4B-401D-8F55-BF2CD5E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52726-018B-414E-ACC4-70154EFF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EVENT TO ACTION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67D73-462D-4C64-BF92-B3DFB526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从事件到动作：每一次运营请求都形成可审计闭环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B891D-2526-4648-8A90-7E4420B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CD239-52FC-4FD5-AC60-58512B5D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F1465-1DD1-4B7A-A20B-0D6F72E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B0A86-31B8-48B4-A42A-FD76468E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平台把“群里一句话”转成有身份、有门店范围、有风险等级、有证据回传的结构化任务。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F9EB0-5275-4254-BD64-76C5F40F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466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F5EFD-797D-46D0-8061-38FF1AEC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80475-9836-47C7-B0AD-482F97E2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A17B9-B2C0-480A-8528-91784F2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飞书消息 / 卡片 / 定时任务 / WebSocket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D630D-BD0F-4D4C-9BE8-7C6D59B5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716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5BA29-D57B-4CF3-BBCA-055A4BF0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288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B7594-52BB-4FF3-A407-7BC3B0E1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479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B9BA6-3170-4D13-8B0C-451B8568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AC1B4-026E-4D27-85C1-3796B708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38375"/>
            <a:ext cx="1466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C1FE8-B774-4004-AEFF-DC3B5145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0C920-022B-4838-9D8F-925323BC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717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F3A99-D51E-47BC-96E7-C0564BE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员工、角色、门店、会话、历史记忆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F1328-CDD8-47EB-9541-7811ABF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716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AA66C-2BF5-45B0-A69B-42511C3F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0288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B4296-3634-42A6-8189-E2424B28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479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773B3-942D-4B06-96A1-10E92BAE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B7268-28D2-4455-AD99-8A154B81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8375"/>
            <a:ext cx="1466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692ADF-8F07-4AA5-8F73-62A3F19C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DD9181-991B-4802-A267-B4069BA4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717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Plan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1E0C94-75B5-4E71-AF7A-B0CE934C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Agent 分解任务、选择工具、生成执行计划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978D2-5266-4919-B95E-69A9CED4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716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FCA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17026-B4D4-445E-8488-6B44C414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288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93166-549E-4EBA-966A-23DA95C3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479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F7044C-7685-4511-8523-72D6DE9B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8A7F6E-7ED5-4882-8861-BD972CD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1466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1CB896-8CD0-460A-B547-E4F30F44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CE75DC-1253-41A5-BFA8-B1F043B2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717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Guard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0840A6-73D7-4ECA-9FCF-5F59CE7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风险识别、资源锁、审批卡片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CE69CF-008D-444C-9111-7EE5B5D7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716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FCA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468D63-89B5-4650-9886-81A87534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288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F8D580-ED10-4B48-9DFB-A7CD38F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479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FD6998-F426-4923-9695-72760871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125629-D1CC-468F-90AD-1A5DBBB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38375"/>
            <a:ext cx="1466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DC78F5-BD2E-4D41-BCCA-A6102871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F0FB17-28C1-40DC-A5ED-39863D8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717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Act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88BA11-0827-44E9-BDEC-55E677E2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670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浏览器、文档、表格、接口、文件执行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FC0FC5-DFD3-4AB2-94E4-D507C1F0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716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EE59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78618A-E678-4F78-A537-4AD4A43E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288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25193B-91E3-40C4-A705-FBCE9B33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479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F2D181-421C-40B8-92D0-24ABA588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14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DB80DB-6395-4BA4-A2BC-2CD3C650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1466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8B7194-FBB8-4899-9694-1C7534FB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E0E0C8-835B-48CB-A7BD-D3A6EAD6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717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150918-CDE1-48F4-9C8F-0C052058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67000"/>
            <a:ext cx="1162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截图、日志、工单、结果摘要回传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6DAEBE-56E1-43E4-B368-C8E92D66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716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EE59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B97C78-668A-409E-BB05-1726E98E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288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D01742-291D-43CD-88C3-6F00A1F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57575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9BAFC7-1540-4CA2-8816-3AF428B9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67200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273E3D-B30C-445D-A947-EB721460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10025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状态与证据持续写入任务事件流：Task / TaskEvent / Artifact / AuditEvent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8C5C29-BB58-4B18-83C9-A2CB02A1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3C0F4C-71A2-499C-B083-82144D9F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59C2DC-2E6B-4064-B126-54C4F60B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62500"/>
            <a:ext cx="483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结果回传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5B3B39-1403-49F6-8B3A-29704F67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57775"/>
            <a:ext cx="483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飞书卡片、群消息、日报文档、任务详情页同步展示；每一次自动执行都能追溯到操作者、门店、工具与证据。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03C028-0904-4B72-8EC9-611D1B8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闭环价值：减少口头交接、减少重复查数、降低误操作风险。</a:t>
            </a:r>
          </a:p>
        </p:txBody>
      </p:sp>
    </p:spTree>
    <p:extLst>
      <p:ext uri="{BB962C8B-B14F-4D97-AF65-F5344CB8AC3E}">
        <p14:creationId xmlns:p14="http://schemas.microsoft.com/office/powerpoint/2010/main" val="21210391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CC4302-FACB-486A-8139-0207B1E2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F6958-A460-44E9-B20D-31519C73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366D6-B5CE-4C9E-B3FA-E1AA8955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5B51D-FC4D-4192-B0B7-A80C9D5C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5430C-A57C-4DD8-8F42-7D1D4D7A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AGENT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E833F-F906-4289-8615-D32943B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Agent Runtime：让模型变成可生产运行的运营执行体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ABB01-B836-4195-AB92-7699135A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C8292-B5A1-4C5F-9571-D9906461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920D0-C1EE-4099-8A02-D380743F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AE63B-ABC8-4E1D-A5A9-C4C3BBC1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运行时围绕会话、模型、工具、步骤、历史和系统提示组织，支撑长任务、跨工具、多轮追问和失败恢复。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AA0D4-8CC2-4241-94C3-CE90271D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3333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30"/>
          </a:solidFill>
          <a:ln xmlns:a="http://schemas.openxmlformats.org/drawingml/2006/main" w="9525">
            <a:solidFill>
              <a:srgbClr val="284D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74284-C733-4B85-A175-E6DE4197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B4147-6C12-4750-B7EC-C292B4C6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SESSION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DDF7F-CAE5-433A-AA4F-E1E1D763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FE987-D4E8-4DFD-88A3-D87C20CF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每个连接器会话映射独立 Tab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68DAD-CC43-46F2-B6ED-4E3566CE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E17A6-24B7-44A5-AE57-4A453996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串行消息队列避免上下文打架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8FC8D-8D01-48C2-BE8A-4FE24217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A52D9-C48D-40DB-B0CA-8F0AB0D5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流式进度、取消、恢复、重试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2B890-8B1E-4310-8EE8-75262563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3333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30"/>
          </a:solidFill>
          <a:ln xmlns:a="http://schemas.openxmlformats.org/drawingml/2006/main" w="9525">
            <a:solidFill>
              <a:srgbClr val="284D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332EB-EE32-4066-B745-C6D30C1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336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FCA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F5789-A547-4395-A067-DEE4F285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MODEL &amp; 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F9908-6A58-4AF6-99B3-0F3F01AE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5E582-24A7-4E77-BC7A-615E8DBA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860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模型配置、上下文窗口、快速模式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F3D57-3CCB-4001-9212-11F5EBFD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24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25D59-CAFE-46CE-8B22-9E13B7BB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0480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系统提示注入企业与门店规则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3D892-CDB8-446C-BB7F-B6E21C3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54D4F8-0051-4C53-A5AD-21E9D041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099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历史摘要与记忆检索共同补全背景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52B28-E474-43F0-A734-26A7A694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333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30"/>
          </a:solidFill>
          <a:ln xmlns:a="http://schemas.openxmlformats.org/drawingml/2006/main" w="9525">
            <a:solidFill>
              <a:srgbClr val="284D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1D0E10-C641-4B5B-8F71-CABB3062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EE59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86B48C-4A8E-4DE4-BA10-F5ED936E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STEP TRACKING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887E2-0D8D-49DD-BD74-42953699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AE4C5-7C17-445E-9698-BBC9CAB3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工具调用步骤可视化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F91FA-E7B2-4CA5-812B-DB1E0FEC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E0A06D-4050-4361-B0A3-9FB6C178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失败原因与中间证据留存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ABC7C0-219C-45D7-B66A-970252D2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19FF78-2737-4F54-A52E-FB9F6DDF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099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跨 Tab 调度复杂运营任务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EE4DFC-5982-4E37-A56B-CD6EB5CE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629083-B9D4-448A-8F54-C18F4E55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766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28D067-3C45-450B-9E9B-55A3F2A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959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AF17E7-3D17-4B68-9950-15B610D6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959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936353-3635-40E4-BEBB-470693FD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829300"/>
            <a:ext cx="598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工程定位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37DF3E-7DC7-4AB1-8032-5F1B3FC2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124575"/>
            <a:ext cx="598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Agent Runtime 是平台“执行大脑”：模型只负责推理，运行时负责上下文、工具边界、过程可观测与业务治理。</a:t>
            </a:r>
          </a:p>
        </p:txBody>
      </p:sp>
    </p:spTree>
    <p:extLst>
      <p:ext uri="{BB962C8B-B14F-4D97-AF65-F5344CB8AC3E}">
        <p14:creationId xmlns:p14="http://schemas.microsoft.com/office/powerpoint/2010/main" val="10202511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A7C3BB-F3BD-4C51-8F32-98458F96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172D0-F366-407B-A4E7-C3E011DB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E6047-239B-4F3F-B3BE-398F6B57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44447-A276-44AF-B0B2-23CBC877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B3C0F-D7E0-45C5-B185-87134517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TOOLING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7354A-D683-40AE-808A-55A32E9A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Tool Mesh：把运营动作封装成安全、可组合的工具能力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4FC59-68D3-4755-9C8F-EDDA3F95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32A1A-6F50-4880-8D17-108C0D2F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478B4-E719-4700-8BC9-D0EA6B34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3A554-9CC1-4977-A54A-9750A3D6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971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工具层把浏览器、文件、文档、表格、网络、日程、记忆、跨会话调用都变成 Agent 可选择的能力，平台负责权限和证据。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41CB7-9BA3-4A29-A8B0-9E4E52BD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F7D56-2FB7-4B17-B2EB-29884583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93B36-73C5-43C8-9AC3-11C31D09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Browser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20886-3D79-4D0B-8DEB-90FDCC9F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BrowserAct / 商家后台 / 截图校验 / 上传下载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68351-6F9C-4C89-9991-5BDA082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BCA77-EB1F-4B07-BC1E-4810B4D9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F453A-CE5D-4DD3-9DF2-49BACDD6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Feishu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8DD82-716A-4AFF-9049-1192C65F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消息卡片 / 云文档 / 多维表格 / 群协作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C22D9-BF30-4A24-A9C4-E8160390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D2FF5-239C-456F-81C9-CB35856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0287C-F782-484A-8B4F-BB68716E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Data &amp; 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9B5C4-56D4-4B97-8E17-7E85BE4C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28875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Excel / CSV / 文件系统 / 文档解析 / 图片生成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8DCA2-55A7-4761-9769-8CAE5529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08581-A25E-4EED-B23A-2B49F5B8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CE71A-FFE3-4F41-AF36-07BB4EE8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Network &amp;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AD3FF-9298-4147-8BA2-820F884D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Web Search / Web Fetch / 外部接口 / 定时任务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EA8FF-F764-4504-9056-3FD4502F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2357A0-A7A7-42FB-A8A0-CBBB81F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A378CF-BC73-46E0-B5EB-B3E68806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Memory &amp;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CCD0E3-6948-48C7-8E90-9A1859AE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0025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mem0 / 长期记忆 / 会话摘要 / 门店知识库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610940-12E9-4198-AE1C-E753F9E4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3F73F1-9CE0-4362-8AC9-681E8BBE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737CC7-B51D-4166-8CD6-4BE033A8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Command Bridge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EF40AF-E4D0-4452-85E8-D85E787D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0025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跨 Tab 调用 / 系统命令 / 连接器工具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8B4593-1AB6-4855-936F-E4AD1E85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F33"/>
          </a:solidFill>
          <a:ln xmlns:a="http://schemas.openxmlformats.org/drawingml/2006/main" w="9525">
            <a:solidFill>
              <a:srgbClr val="2A4F6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E7AF6A-EF77-4E36-8C8B-323D4F34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9117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A46549-7C8E-43D4-A5B0-4541F94E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483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DESIGN RULE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E321A0-0195-4DF3-A43B-BA49F896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0225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工具不是越多越好，而是每个工具都带上下文、权限、结果证据和失败语义；这样 Agent 才能稳定处理真实运营任务。</a:t>
            </a:r>
          </a:p>
        </p:txBody>
      </p:sp>
    </p:spTree>
    <p:extLst>
      <p:ext uri="{BB962C8B-B14F-4D97-AF65-F5344CB8AC3E}">
        <p14:creationId xmlns:p14="http://schemas.microsoft.com/office/powerpoint/2010/main" val="5892871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97740-4444-4CBD-9FCF-C2258327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3EB42-6C88-419D-BAFA-F19EA73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70594-1A8E-48EC-8AF0-6D7CB9E7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C785D-D6D9-4E24-A5D6-DC8FC6A8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0DB1C-D5D4-480E-9CCA-50F6952A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DATA + MEMORY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20B7F-E853-4CE1-804E-DB0241BE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数据与记忆控制平面：让 Agent 理解组织、门店与历史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9F0C7-B26B-4B29-862E-695C8AD0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1CB65-5128-4E4C-9745-5111BDCE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A5076-C646-4C0B-8919-73038642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CD007-5C84-4A49-90CD-A7F88AD2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最终形态采用结构化运营库 + 向量记忆 + 权限作用域三层，让 AI 既有业务事实，也有长期经验。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A1AAB-8471-428D-90B4-10D329F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794EE-56C5-42E1-B8A9-3748D354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SQLite WAL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12FB9-4A02-40CC-9F2E-D3E9CAF9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配置、任务、审计、门店实体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0DC4A-EBF3-4FA8-A06D-9DB7685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A4422-0FA5-4ED3-8EC7-C6F7B59E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mem0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09513-7ED6-4426-8A84-983C1BCE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765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企业/员工/会话分层记忆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1661E-C650-4F8D-B82A-B7B03A10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B424A-2662-46CE-8ACF-1838C756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574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StoreScope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1A176-DD7D-46CD-9B99-F6960FF4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门店权限与经营上下文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0D2F8-44A4-4B03-8912-94DA5F40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5"/>
          </a:solidFill>
          <a:ln xmlns:a="http://schemas.openxmlformats.org/drawingml/2006/main" w="9525">
            <a:solidFill>
              <a:srgbClr val="254F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061F5-C9F8-42B6-8124-F3AEC7E6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98B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A98BFF"/>
                </a:solidFill>
                <a:latin typeface="Menlo"/>
                <a:ea typeface="Menlo"/>
                <a:cs typeface="Menlo"/>
              </a:rPr>
              <a:t>Artifacts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263A1-9EAA-4485-AD5E-9ECE2FFA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截图、表格、文档、执行证据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C0E80-7771-43FB-B454-B8B80FF3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952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30"/>
          </a:solidFill>
          <a:ln xmlns:a="http://schemas.openxmlformats.org/drawingml/2006/main" w="9525">
            <a:solidFill>
              <a:srgbClr val="284D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E3804-EB33-4D2E-9E02-461604C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EE5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CC27A0-0512-47C8-AB3F-4B68DA34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STRUCTURED 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C0173-699C-4F7E-BD88-EB5E71D2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Employee / Role / Store / StoreBinding / BrowserProfile / Conversation / Task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47382-BB6A-480F-A1AF-6AD2549B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71850"/>
            <a:ext cx="2952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30"/>
          </a:solidFill>
          <a:ln xmlns:a="http://schemas.openxmlformats.org/drawingml/2006/main" w="9525">
            <a:solidFill>
              <a:srgbClr val="284D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FAE872-4E2F-4D7F-9A30-E2227B5F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38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FCA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8D00D-6D6C-4686-980E-EA59A5BD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957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SEMANTIC MEMORY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1D290-0766-48CB-B4D5-29E671B6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1148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企业规则、门店经验、员工偏好、历史复盘、异常模式以向量记忆召回。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F6EC1-D112-44AE-B390-8DAFA461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952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30"/>
          </a:solidFill>
          <a:ln xmlns:a="http://schemas.openxmlformats.org/drawingml/2006/main" w="9525">
            <a:solidFill>
              <a:srgbClr val="284D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653E3-11C2-47A8-B352-12C03EF1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385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30984-FAD4-44F9-81B1-00A686AA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GOVERNANCE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3AD20-35D3-44A7-9C99-7704236E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148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每次检索和执行都绑定身份、门店范围、审批状态与审计事件。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82D772-DD3D-48EC-A500-E7FFB90B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6720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7A41F1-2B1D-4081-8377-5E2A1EE8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6720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481CE2-7491-4389-8EDE-DC26B47F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194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8D1A84-091F-457A-A693-A0526BB6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626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1545C5-8690-4B0E-A9BB-34325E5A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F146F4-D03B-4D70-9E24-3604DC5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95950"/>
            <a:ext cx="445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关键收益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EEF26A-EE53-433A-8066-D7B1779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91225"/>
            <a:ext cx="4457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运营动作从“靠人记、靠群聊翻记录”升级为“事实可查、经验可召回、权限可约束、结果可复盘”。</a:t>
            </a:r>
          </a:p>
        </p:txBody>
      </p:sp>
    </p:spTree>
    <p:extLst>
      <p:ext uri="{BB962C8B-B14F-4D97-AF65-F5344CB8AC3E}">
        <p14:creationId xmlns:p14="http://schemas.microsoft.com/office/powerpoint/2010/main" val="11108865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8B029-F403-4F64-B569-6425A0E3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FA226-A34B-4515-A52D-FF8984EF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DA0E3-63A5-4B3F-AE39-02CC97D9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2AED3-9672-4C4C-A298-347C8DAD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80EFA-D762-4D29-84AA-9E762919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RELIABILITY +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2A0D9-D0BA-4567-9A1D-C91C5264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可靠执行与治理：自动化越强，约束越要工程化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0C50F-62D4-4493-8252-8C9D89A4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47244-00BF-4442-8E8C-B8C3160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21255-62A0-4654-94F8-23335AC2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AB859-1C8E-4983-968E-DBE3E79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平台将高风险动作拆成“预检、锁定、审批、执行、校验、留痕”，使自动化具备企业级可控性。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ED25E-92A2-4A3C-96CB-FA2BE81A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2476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E31"/>
          </a:solidFill>
          <a:ln xmlns:a="http://schemas.openxmlformats.org/drawingml/2006/main" w="9525">
            <a:solidFill>
              <a:srgbClr val="294F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5E2D0-F1E2-4240-B7DB-91CD6970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3A07D-F260-4D1D-ABF3-D544703D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6B7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6B7A"/>
                </a:solidFill>
                <a:latin typeface="Menlo"/>
                <a:ea typeface="Menlo"/>
                <a:cs typeface="Menlo"/>
              </a:rPr>
              <a:t>RISK LEVEL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5FB6D-C010-41E7-BBC3-7161C0D7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2C358-5EEA-49C9-BC02-B9046F4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查数与总结：低风险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5DA82-1F2C-4968-A68D-74052AC1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E9BD1-8FE0-4443-B6E9-4171AAD3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文档写入：中风险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85DAA-B229-4CC9-801B-ED074337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B1EBB-0E82-4D67-8072-EBBF14FB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商家后台改价、上下架：高风险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64658-A363-47B1-B9BF-883477AD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2476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E31"/>
          </a:solidFill>
          <a:ln xmlns:a="http://schemas.openxmlformats.org/drawingml/2006/main" w="9525">
            <a:solidFill>
              <a:srgbClr val="294F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27A7E-7224-4891-BC24-13436A7D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288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FCA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057F8-2601-4045-A07D-642670F2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RESOURCE 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C31CA-C018-4F05-8EE7-FBA14BD6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0C805-2CB1-463B-9081-E59D122C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03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门店/账号/后台会话加锁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4D7B0-80CB-4223-92EB-CBD78652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8FB95-AD46-482D-8AC5-87E4172A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623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避免多个 Agent 同时操作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7D105-758E-4422-A39C-6198C360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A10AFD-779B-4A74-B883-B22338D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242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超时释放与异常恢复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CB9766-8C0C-48F6-80CF-2667C41D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2476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E31"/>
          </a:solidFill>
          <a:ln xmlns:a="http://schemas.openxmlformats.org/drawingml/2006/main" w="9525">
            <a:solidFill>
              <a:srgbClr val="294F6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6DE6B-00E4-4C95-B821-C408882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288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A50459-CA07-49C2-BD91-2D413EF8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APPROVAL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57E94B-4E16-4058-9B04-9F116BA9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8CB0EF-C1E9-4487-B25E-D133D5A8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03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飞书卡片确认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AF892-06A3-4472-8632-241D60E5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EB767-8D07-4BF5-8B10-306BE104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负责人按门店范围审批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F87B4B-611B-4D8A-9FFF-4272DE4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32E0A0-AB2B-4D4E-8F67-8944EDC8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242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审批事件写入审计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D1EDCA-C832-418F-8398-BD2E1254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62150"/>
            <a:ext cx="2286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E31"/>
          </a:solidFill>
          <a:ln xmlns:a="http://schemas.openxmlformats.org/drawingml/2006/main" w="9525">
            <a:solidFill>
              <a:srgbClr val="294F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C8E855-6508-4130-B989-AB1A95F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288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EE59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5112C5-85FF-4E06-A9FA-12675A0B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9DF2C5-20D8-4BCA-A0FE-39691D78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AF9D45-F148-4294-ABCB-985E7E16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003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截图 / 文件 / 链接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A58719-F204-44FD-9B0E-209C0D44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01DBF0-F089-4BB1-A65D-E3139321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工具日志 / 结果摘要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97F3B2-915A-4606-B2C5-833B9AB6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8F31E1-9354-45AC-8338-0762D0F5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242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任务事件时间线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B3478D-0CDA-4CB9-86A3-BC620FA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98121E-E7EC-41EC-8BE5-328A2644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62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D813C1-2DC4-4831-ABB1-CB4D9B53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95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2464CB-1723-418D-8B77-72F764EA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81B7B4-2C94-4278-A0DB-0A723BA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B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489AFC-B839-4F09-8F0D-88130CD3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62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230E2C-8B0D-424D-8261-A8D828E0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676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67A847-3D2B-4CF6-9FAA-6E63E22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FA81BA-F6BB-4076-92B1-0FE2527E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53050"/>
            <a:ext cx="645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生产化原则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A5C93E-CD20-493E-84F3-22D86A47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48325"/>
            <a:ext cx="645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AI 可以提出建议，也可以执行动作；但涉及价格、菜单、投放、账号和客户数据时，必须有权限范围、审批阈值和可追溯证据。</a:t>
            </a:r>
          </a:p>
        </p:txBody>
      </p:sp>
    </p:spTree>
    <p:extLst>
      <p:ext uri="{BB962C8B-B14F-4D97-AF65-F5344CB8AC3E}">
        <p14:creationId xmlns:p14="http://schemas.microsoft.com/office/powerpoint/2010/main" val="7198340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48AD34-06D9-45C3-94F1-EAF35F41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36E1D-54A0-4977-A748-1DD6BD26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781AC-770C-4FC0-BFE4-3891FC88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31C52-018F-40E8-A9FC-BA6B947A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8EAD0-CB3D-438C-8301-3E552801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BUSINESS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582A3-A560-49B3-B584-D57B776B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业务 Agent 编排：七类运营场景复用同一技术底座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C10AF-588D-4BF1-8771-CD107AC2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2C20A-A10D-4544-9F51-05075079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4E2C6-35D9-4D46-8B52-5656846B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5EB46-2ED8-4B61-916B-75C4A586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面向餐饮代运营，业务能力以 Agent 形式沉淀；每个 Agent 都复用身份、门店、工具、记忆、审批和证据链。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9935C-F832-4A3B-AD2C-AC4557F4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86A75-8A4B-44D9-B73F-A222B188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88663-0438-4992-A2DE-A4A9EFDB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日报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67666-DD5C-415C-ADBF-27717BBB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自动汇总订单、GMV、曝光、转化、竞品与异常解释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0735F-C6A2-4971-A0C8-F768865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882DE-70BB-4ECC-B960-647077AA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DA3BC-71D9-4EBB-BAAE-7A71D50C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预警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E308A-C213-4B52-96CB-4C3A98A9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检测销量、差评、配送、库存、活动波动并推送处置建议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59A96-E13B-422A-8F3F-5867B0FD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EF7AA-7643-4029-8BD8-F8539C66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F1D16-76F2-4DCB-8F06-0EDCF32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859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问数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B1DAA-0784-423D-9121-2F67C777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自然语言查数据，返回表格、图表与可追问分析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0581E-8B8B-40C7-9096-4853FE94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05775-BF88-4B35-AC9C-7C033B87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7A54D-F63E-4650-B2ED-978D697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执行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4FC05-26B1-4E89-BA47-58029ADF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操作商家后台，完成装修、改图、上下架、活动配置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7195E-C6B5-4AB6-BB9E-765D64EE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95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614F0-0D41-416F-8842-E6508F82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956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38133-0A08-408E-B875-BC2E991F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289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增长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33673B-0CDA-4FB5-AF98-C503A201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生成活动策略、菜单优化、投放建议与复盘报告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052E5-B361-4CEA-BA2A-9D81B301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D2864B-C6E3-474F-8ADF-B471AC33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DAAF89-6AA5-4925-BE47-6503085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知识 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607AB3-D30C-42D5-984F-D7AB17A9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沉淀 SOP、案例、门店规则、平台政策与新员工问答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A1EA2-6E80-4934-9F24-4B0E3E04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676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C52007-E31D-433F-90BF-125D0DC9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5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03D8BB-DAC1-40DA-BBF3-71699D9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45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菜单 Agent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C7E63C-1896-4C5C-92AA-88D09579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45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菜品结构、价格带、图片与描述优化，联动执行工具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55F70B-8B0B-4D9A-BDB7-67393D52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E31"/>
          </a:solidFill>
          <a:ln xmlns:a="http://schemas.openxmlformats.org/drawingml/2006/main" w="9525">
            <a:solidFill>
              <a:srgbClr val="294F6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C66FE8-2D32-435D-BF24-9ACB2CB8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958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6D9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373238-D892-4DCB-8079-01DFF89B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6D9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6D9FF"/>
                </a:solidFill>
                <a:latin typeface="Menlo"/>
                <a:ea typeface="Menlo"/>
                <a:cs typeface="Menlo"/>
              </a:rPr>
              <a:t>SHARED PLATFORM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2E3E24-AD38-4242-A00F-2317C756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53000"/>
            <a:ext cx="2400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所有业务 Agent 共享一套任务编排、工具网格、数据记忆、审批留痕；新增场景不再从零搭脚本，而是配置能力与流程。</a:t>
            </a:r>
          </a:p>
        </p:txBody>
      </p:sp>
    </p:spTree>
    <p:extLst>
      <p:ext uri="{BB962C8B-B14F-4D97-AF65-F5344CB8AC3E}">
        <p14:creationId xmlns:p14="http://schemas.microsoft.com/office/powerpoint/2010/main" val="8442026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0BDC89-8C29-45E8-95C0-3590DE80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383E9-CF67-47E0-9FCE-AC9288F2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21DF3-7763-4F94-8785-A6CC8F82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AD10F-B99F-4585-B75C-C5B2FC70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56940-0336-4807-8157-0CC7C364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6D9FF"/>
                </a:solidFill>
                <a:latin typeface="PingFang SC"/>
                <a:ea typeface="PingFang SC"/>
                <a:cs typeface="PingFang SC"/>
              </a:rPr>
              <a:t>TECHNICAL MOAT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718C7-CF7C-4BBF-B911-EDE54EF6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技术护城河：从代运营工具到行业智能操作系统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171B2-1599-41E0-9C52-A849832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388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8A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7188A0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2E39C-29A4-4B24-8EE8-E3129B82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C29D0-1EF7-4344-AECE-C2994085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88A0"/>
                </a:solidFill>
                <a:latin typeface="PingFang SC"/>
                <a:ea typeface="PingFang SC"/>
                <a:cs typeface="PingFang SC"/>
              </a:rPr>
              <a:t>点之出众餐饮代运营 AI 智能助手 / 最终形态技术展示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522F2-6579-48A0-A456-15ADCC20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最终价值不在单点 AI 能力，而在把行业动作、数据语义、执行通道和治理规则持续沉淀为平台资产。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DB471-B2A4-4FD1-A485-376C7BBB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3238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30"/>
          </a:solidFill>
          <a:ln xmlns:a="http://schemas.openxmlformats.org/drawingml/2006/main" w="9525">
            <a:solidFill>
              <a:srgbClr val="284D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A0313-0AEC-4D34-AB9C-7E7A4EAF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FFCA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A36B3-92AB-4E3E-90B6-0ED52B47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CA6E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CA6E"/>
                </a:solidFill>
                <a:latin typeface="Menlo"/>
                <a:ea typeface="Menlo"/>
                <a:cs typeface="Menlo"/>
              </a:rPr>
              <a:t>MODEL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BEB0E-9380-4C2D-9E1A-06BC56BE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92AD3-16A4-4EAD-9BD8-9948E55D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多模型路由：分析、执行、视觉、文档各用最优模型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A3F87-1584-4B61-BA14-79ACABB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481AC-075D-4CA6-A5D7-2A4F737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上下文压缩与记忆召回降低成本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D9B48-055B-452C-9F27-8989E29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7A82A-FB25-4AFD-B51D-AB504063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行业 Prompt 与流程模板版本化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4A16C-F1F7-4925-A49F-19A144C5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3238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30"/>
          </a:solidFill>
          <a:ln xmlns:a="http://schemas.openxmlformats.org/drawingml/2006/main" w="9525">
            <a:solidFill>
              <a:srgbClr val="284D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6CAA5-AA14-4B35-8A1B-1672339B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A98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249F1-96D5-466B-BF1D-D3425A40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8B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A98BFF"/>
                </a:solidFill>
                <a:latin typeface="Menlo"/>
                <a:ea typeface="Menlo"/>
                <a:cs typeface="Menlo"/>
              </a:rPr>
              <a:t>EXECUTION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26140-093F-4FC7-B326-D9451B86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4269F-6EBC-49F9-AA20-0227CA40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浏览器会话池与账号画像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8343D-4222-4489-B20B-962D4E93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57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2795D7-010B-4B4D-B62A-962E0AAB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Feishu 卡片、文档、多维表格深度协作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8D45C5-E5E6-49BE-B8C0-50256875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57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C84C6-2BEC-45AE-90F5-88C89BE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RPA、API、文件与数据工具统一编排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85F15-39CF-4E96-BED6-B201D98D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3238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30"/>
          </a:solidFill>
          <a:ln xmlns:a="http://schemas.openxmlformats.org/drawingml/2006/main" w="9525">
            <a:solidFill>
              <a:srgbClr val="284D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2D269E-4190-491E-B045-7717528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5"/>
          </a:solidFill>
          <a:ln xmlns:a="http://schemas.openxmlformats.org/drawingml/2006/main" w="9525">
            <a:solidFill>
              <a:srgbClr val="4EE59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EFDA00-CBCD-4B30-9E7E-E50C5BEF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E59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EE59B"/>
                </a:solidFill>
                <a:latin typeface="Menlo"/>
                <a:ea typeface="Menlo"/>
                <a:cs typeface="Menlo"/>
              </a:rPr>
              <a:t>INDUSTRY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782351-C785-4811-9976-39B2D06F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EAE2A5-489C-4BCD-A141-FDA62FA4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门店经营知识图谱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9CB370-40A3-4C20-89F1-11D0154D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86CE29-AE08-44F8-850B-CE8B4D7D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8135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菜单、活动、竞品、异常案例库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6D71D0-3B9C-4E9F-BA00-C54E8652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57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635F2D-6583-4418-953D-222FC8D9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动作结果回流，形成可复用运营配方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34FDE7-321A-44E3-9176-7050E7F7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7"/>
          </a:solidFill>
          <a:ln xmlns:a="http://schemas.openxmlformats.org/drawingml/2006/main" w="9525">
            <a:solidFill>
              <a:srgbClr val="2751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FC7A3C-A131-4447-B704-1073573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5140B6-04ED-4B70-A5DD-F94F1FDE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19750"/>
            <a:ext cx="769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6FAFF"/>
                </a:solidFill>
                <a:latin typeface="PingFang SC"/>
                <a:ea typeface="PingFang SC"/>
                <a:cs typeface="PingFang SC"/>
              </a:rPr>
              <a:t>一句话总结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52BE0F-255A-42F0-A303-A24E807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15025"/>
            <a:ext cx="769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A9BCD1"/>
                </a:solidFill>
                <a:latin typeface="PingFang SC"/>
                <a:ea typeface="PingFang SC"/>
                <a:cs typeface="PingFang SC"/>
              </a:rPr>
              <a:t>点之出众 AI 平台的最终形态，是一个面向餐饮代运营的“智能运营中台”：懂业务、能执行、可治理、会沉淀。</a:t>
            </a:r>
          </a:p>
        </p:txBody>
      </p:sp>
    </p:spTree>
    <p:extLst>
      <p:ext uri="{BB962C8B-B14F-4D97-AF65-F5344CB8AC3E}">
        <p14:creationId xmlns:p14="http://schemas.microsoft.com/office/powerpoint/2010/main" val="1679597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2026-06-11T07:51:09.2460000Z</dcterms:created>
  <dcterms:modified xsi:type="dcterms:W3CDTF">2026-06-11T07:51:09.2460000Z</dcterms:modified>
</coreProperties>
</file>